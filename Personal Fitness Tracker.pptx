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unito Sans Expanded" charset="1" panose="00000000000000000000"/>
      <p:regular r:id="rId19"/>
    </p:embeddedFont>
    <p:embeddedFont>
      <p:font typeface="Poppins Bold" charset="1" panose="00000800000000000000"/>
      <p:regular r:id="rId20"/>
    </p:embeddedFont>
    <p:embeddedFont>
      <p:font typeface="Nunito Sans Expanded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6800" y="9429750"/>
            <a:ext cx="16154400" cy="0"/>
          </a:xfrm>
          <a:prstGeom prst="line">
            <a:avLst/>
          </a:prstGeom>
          <a:ln cap="flat" w="9525">
            <a:solidFill>
              <a:srgbClr val="4443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9629775"/>
            <a:ext cx="4953000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PERSONAL FITNESS / JAVA PROJECT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572750" y="857250"/>
            <a:ext cx="6667500" cy="7810500"/>
          </a:xfrm>
          <a:custGeom>
            <a:avLst/>
            <a:gdLst/>
            <a:ahLst/>
            <a:cxnLst/>
            <a:rect r="r" b="b" t="t" l="l"/>
            <a:pathLst>
              <a:path h="7810500" w="6667500">
                <a:moveTo>
                  <a:pt x="0" y="0"/>
                </a:moveTo>
                <a:lnTo>
                  <a:pt x="6667500" y="0"/>
                </a:lnTo>
                <a:lnTo>
                  <a:pt x="6667500" y="7810500"/>
                </a:lnTo>
                <a:lnTo>
                  <a:pt x="0" y="781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" r="0" b="-67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066800" y="2133600"/>
            <a:ext cx="895350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 b="true">
                <a:solidFill>
                  <a:srgbClr val="98B0F8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 Fitness &amp;</a:t>
            </a:r>
          </a:p>
          <a:p>
            <a:pPr algn="l">
              <a:lnSpc>
                <a:spcPts val="7875"/>
              </a:lnSpc>
            </a:pPr>
            <a:r>
              <a:rPr lang="en-US" sz="7500" b="true">
                <a:solidFill>
                  <a:srgbClr val="98B0F8"/>
                </a:solidFill>
                <a:latin typeface="Poppins Bold"/>
                <a:ea typeface="Poppins Bold"/>
                <a:cs typeface="Poppins Bold"/>
                <a:sym typeface="Poppins Bold"/>
              </a:rPr>
              <a:t>Workout Tracker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" y="4724400"/>
            <a:ext cx="8001000" cy="40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F3F1F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Track workouts. Hit goals. Know your BMI.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0386" y="6041040"/>
            <a:ext cx="7553614" cy="170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sz="2001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PRESENTED BY</a:t>
            </a:r>
          </a:p>
          <a:p>
            <a:pPr algn="l">
              <a:lnSpc>
                <a:spcPts val="2701"/>
              </a:lnSpc>
            </a:pPr>
            <a:r>
              <a:rPr lang="en-US" sz="2001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• Syed Irfan (2620030054)</a:t>
            </a:r>
          </a:p>
          <a:p>
            <a:pPr algn="l">
              <a:lnSpc>
                <a:spcPts val="2701"/>
              </a:lnSpc>
            </a:pPr>
            <a:r>
              <a:rPr lang="en-US" sz="2001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•  Abhiram (2620040122)</a:t>
            </a:r>
          </a:p>
          <a:p>
            <a:pPr algn="l">
              <a:lnSpc>
                <a:spcPts val="2701"/>
              </a:lnSpc>
            </a:pPr>
          </a:p>
          <a:p>
            <a:pPr algn="l">
              <a:lnSpc>
                <a:spcPts val="2701"/>
              </a:lnSpc>
            </a:pPr>
            <a:r>
              <a:rPr lang="en-US" sz="2001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FACULTY GUIDE : Gopi Krishna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6800" y="9429750"/>
            <a:ext cx="16154400" cy="0"/>
          </a:xfrm>
          <a:prstGeom prst="line">
            <a:avLst/>
          </a:prstGeom>
          <a:ln cap="flat" w="9525">
            <a:solidFill>
              <a:srgbClr val="4443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9629775"/>
            <a:ext cx="4953000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PERSONAL FITNESS / JAVA PROJECT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66800" y="2047875"/>
            <a:ext cx="6191250" cy="6191250"/>
          </a:xfrm>
          <a:custGeom>
            <a:avLst/>
            <a:gdLst/>
            <a:ahLst/>
            <a:cxnLst/>
            <a:rect r="r" b="b" t="t" l="l"/>
            <a:pathLst>
              <a:path h="6191250" w="6191250">
                <a:moveTo>
                  <a:pt x="0" y="0"/>
                </a:moveTo>
                <a:lnTo>
                  <a:pt x="6191250" y="0"/>
                </a:lnTo>
                <a:lnTo>
                  <a:pt x="619125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8382000" y="1209675"/>
            <a:ext cx="2476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7EEFFF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82000" y="1971675"/>
            <a:ext cx="819150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98B0F8"/>
                </a:solidFill>
                <a:latin typeface="Poppins Bold"/>
                <a:ea typeface="Poppins Bold"/>
                <a:cs typeface="Poppins Bold"/>
                <a:sym typeface="Poppins Bold"/>
              </a:rPr>
              <a:t>Your daily fitness data,</a:t>
            </a:r>
          </a:p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98B0F8"/>
                </a:solidFill>
                <a:latin typeface="Poppins Bold"/>
                <a:ea typeface="Poppins Bold"/>
                <a:cs typeface="Poppins Bold"/>
                <a:sym typeface="Poppins Bold"/>
              </a:rPr>
              <a:t>one simple console.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82000" y="4048125"/>
            <a:ext cx="7429500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50">
                <a:solidFill>
                  <a:srgbClr val="F3F1F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A Java console app that logs multiple workouts, totals calories automatically, checks daily goal progress, and calculates BMI with a health category.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82000" y="6553200"/>
            <a:ext cx="7620000" cy="23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FAST INPUT  •  INSTANT FEEDBACK  •  CORE JAVA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8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6800" y="9429750"/>
            <a:ext cx="16154400" cy="0"/>
          </a:xfrm>
          <a:prstGeom prst="line">
            <a:avLst/>
          </a:prstGeom>
          <a:ln cap="flat" w="9525">
            <a:solidFill>
              <a:srgbClr val="4443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9629775"/>
            <a:ext cx="4953000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PERSONAL FITNESS / JAVA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1162050"/>
            <a:ext cx="1047750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b="true">
                <a:solidFill>
                  <a:srgbClr val="98B0F8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 is fragmented.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66800" y="2952750"/>
            <a:ext cx="7429500" cy="4762500"/>
            <a:chOff x="0" y="0"/>
            <a:chExt cx="9906000" cy="6350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906000" cy="6350000"/>
              <a:chOff x="0" y="0"/>
              <a:chExt cx="9906000" cy="635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906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906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09600" y="97155"/>
              <a:ext cx="2413000" cy="918845"/>
              <a:chOff x="0" y="0"/>
              <a:chExt cx="2413000" cy="91884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413000" cy="918845"/>
              </a:xfrm>
              <a:custGeom>
                <a:avLst/>
                <a:gdLst/>
                <a:ahLst/>
                <a:cxnLst/>
                <a:rect r="r" b="b" t="t" l="l"/>
                <a:pathLst>
                  <a:path h="918845" w="2413000">
                    <a:moveTo>
                      <a:pt x="334211" y="0"/>
                    </a:moveTo>
                    <a:lnTo>
                      <a:pt x="2078789" y="0"/>
                    </a:lnTo>
                    <a:cubicBezTo>
                      <a:pt x="2167428" y="0"/>
                      <a:pt x="2252435" y="35211"/>
                      <a:pt x="2315112" y="97888"/>
                    </a:cubicBezTo>
                    <a:cubicBezTo>
                      <a:pt x="2377789" y="160565"/>
                      <a:pt x="2413000" y="245572"/>
                      <a:pt x="2413000" y="334211"/>
                    </a:cubicBezTo>
                    <a:lnTo>
                      <a:pt x="2413000" y="584634"/>
                    </a:lnTo>
                    <a:cubicBezTo>
                      <a:pt x="2413000" y="769214"/>
                      <a:pt x="2263369" y="918845"/>
                      <a:pt x="2078789" y="918845"/>
                    </a:cubicBezTo>
                    <a:lnTo>
                      <a:pt x="334211" y="918845"/>
                    </a:lnTo>
                    <a:cubicBezTo>
                      <a:pt x="245572" y="918845"/>
                      <a:pt x="160565" y="883634"/>
                      <a:pt x="97888" y="820957"/>
                    </a:cubicBezTo>
                    <a:cubicBezTo>
                      <a:pt x="35211" y="758280"/>
                      <a:pt x="0" y="673273"/>
                      <a:pt x="0" y="584634"/>
                    </a:cubicBezTo>
                    <a:lnTo>
                      <a:pt x="0" y="334211"/>
                    </a:lnTo>
                    <a:cubicBezTo>
                      <a:pt x="0" y="245572"/>
                      <a:pt x="35211" y="160565"/>
                      <a:pt x="97888" y="97888"/>
                    </a:cubicBezTo>
                    <a:cubicBezTo>
                      <a:pt x="160565" y="35211"/>
                      <a:pt x="245572" y="0"/>
                      <a:pt x="334211" y="0"/>
                    </a:cubicBezTo>
                    <a:close/>
                  </a:path>
                </a:pathLst>
              </a:custGeom>
              <a:solidFill>
                <a:srgbClr val="7EE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2413000" cy="9474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  <a:r>
                  <a:rPr lang="en-US" b="true" sz="1350" spc="162">
                    <a:solidFill>
                      <a:srgbClr val="08070C"/>
                    </a:solidFill>
                    <a:latin typeface="Nunito Sans Expanded Bold"/>
                    <a:ea typeface="Nunito Sans Expanded Bold"/>
                    <a:cs typeface="Nunito Sans Expanded Bold"/>
                    <a:sym typeface="Nunito Sans Expanded Bold"/>
                  </a:rPr>
                  <a:t>THE PROBLEM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09600" y="1199513"/>
              <a:ext cx="762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850" b="true">
                  <a:solidFill>
                    <a:srgbClr val="7EE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Current issues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09600" y="2257425"/>
              <a:ext cx="7620000" cy="92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Paper tracking is messy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Calories are added by hand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20250" y="2952750"/>
            <a:ext cx="7600950" cy="4762500"/>
            <a:chOff x="0" y="0"/>
            <a:chExt cx="10134600" cy="6350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134600" cy="6350000"/>
              <a:chOff x="0" y="0"/>
              <a:chExt cx="101346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1346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10134600">
                    <a:moveTo>
                      <a:pt x="0" y="0"/>
                    </a:moveTo>
                    <a:lnTo>
                      <a:pt x="10134600" y="0"/>
                    </a:lnTo>
                    <a:lnTo>
                      <a:pt x="101346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1346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508000" y="221107"/>
              <a:ext cx="2413000" cy="794893"/>
              <a:chOff x="0" y="0"/>
              <a:chExt cx="2413000" cy="7948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413000" cy="794893"/>
              </a:xfrm>
              <a:custGeom>
                <a:avLst/>
                <a:gdLst/>
                <a:ahLst/>
                <a:cxnLst/>
                <a:rect r="r" b="b" t="t" l="l"/>
                <a:pathLst>
                  <a:path h="794893" w="2413000">
                    <a:moveTo>
                      <a:pt x="334211" y="0"/>
                    </a:moveTo>
                    <a:lnTo>
                      <a:pt x="2078789" y="0"/>
                    </a:lnTo>
                    <a:cubicBezTo>
                      <a:pt x="2167428" y="0"/>
                      <a:pt x="2252435" y="35211"/>
                      <a:pt x="2315112" y="97888"/>
                    </a:cubicBezTo>
                    <a:cubicBezTo>
                      <a:pt x="2377789" y="160565"/>
                      <a:pt x="2413000" y="245572"/>
                      <a:pt x="2413000" y="334211"/>
                    </a:cubicBezTo>
                    <a:lnTo>
                      <a:pt x="2413000" y="460682"/>
                    </a:lnTo>
                    <a:cubicBezTo>
                      <a:pt x="2413000" y="549321"/>
                      <a:pt x="2377789" y="634328"/>
                      <a:pt x="2315112" y="697005"/>
                    </a:cubicBezTo>
                    <a:cubicBezTo>
                      <a:pt x="2252435" y="759682"/>
                      <a:pt x="2167428" y="794893"/>
                      <a:pt x="2078789" y="794893"/>
                    </a:cubicBezTo>
                    <a:lnTo>
                      <a:pt x="334211" y="794893"/>
                    </a:lnTo>
                    <a:cubicBezTo>
                      <a:pt x="245572" y="794893"/>
                      <a:pt x="160565" y="759682"/>
                      <a:pt x="97888" y="697005"/>
                    </a:cubicBezTo>
                    <a:cubicBezTo>
                      <a:pt x="35211" y="634328"/>
                      <a:pt x="0" y="549321"/>
                      <a:pt x="0" y="460682"/>
                    </a:cubicBezTo>
                    <a:lnTo>
                      <a:pt x="0" y="334211"/>
                    </a:lnTo>
                    <a:cubicBezTo>
                      <a:pt x="0" y="245572"/>
                      <a:pt x="35211" y="160565"/>
                      <a:pt x="97888" y="97888"/>
                    </a:cubicBezTo>
                    <a:cubicBezTo>
                      <a:pt x="160565" y="35211"/>
                      <a:pt x="245572" y="0"/>
                      <a:pt x="334211" y="0"/>
                    </a:cubicBezTo>
                    <a:close/>
                  </a:path>
                </a:pathLst>
              </a:custGeom>
              <a:solidFill>
                <a:srgbClr val="FF2E6E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2413000" cy="8234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  <a:r>
                  <a:rPr lang="en-US" b="true" sz="1350" spc="162">
                    <a:solidFill>
                      <a:srgbClr val="08070C"/>
                    </a:solidFill>
                    <a:latin typeface="Nunito Sans Expanded Bold"/>
                    <a:ea typeface="Nunito Sans Expanded Bold"/>
                    <a:cs typeface="Nunito Sans Expanded Bold"/>
                    <a:sym typeface="Nunito Sans Expanded Bold"/>
                  </a:rPr>
                  <a:t>THE PROBLEM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08000" y="1199513"/>
              <a:ext cx="762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850" b="true">
                  <a:solidFill>
                    <a:srgbClr val="FF2E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User challenges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08000" y="2257425"/>
              <a:ext cx="7620000" cy="92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People forget goal progress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BMI needs a separate calculator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8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6800" y="9429750"/>
            <a:ext cx="16154400" cy="0"/>
          </a:xfrm>
          <a:prstGeom prst="line">
            <a:avLst/>
          </a:prstGeom>
          <a:ln cap="flat" w="9525">
            <a:solidFill>
              <a:srgbClr val="4443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9629775"/>
            <a:ext cx="4953000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PERSONAL FITNESS / JAVA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1019175"/>
            <a:ext cx="952500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b="true">
                <a:solidFill>
                  <a:srgbClr val="98B0F8"/>
                </a:solidFill>
                <a:latin typeface="Poppins Bold"/>
                <a:ea typeface="Poppins Bold"/>
                <a:cs typeface="Poppins Bold"/>
                <a:sym typeface="Poppins Bold"/>
              </a:rPr>
              <a:t>Five clear objectives.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90625" y="3048000"/>
            <a:ext cx="2857500" cy="3714750"/>
            <a:chOff x="0" y="0"/>
            <a:chExt cx="3810000" cy="4953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3810000" cy="4953000"/>
              <a:chOff x="0" y="0"/>
              <a:chExt cx="3810000" cy="4953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810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3810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810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17500" y="581025"/>
              <a:ext cx="1143000" cy="412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true">
                  <a:solidFill>
                    <a:srgbClr val="7EE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17500" y="1558925"/>
              <a:ext cx="3175000" cy="92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Set a daily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calorie goal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29125" y="3048000"/>
            <a:ext cx="2857500" cy="3714750"/>
            <a:chOff x="0" y="0"/>
            <a:chExt cx="3810000" cy="4953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3810000" cy="4953000"/>
              <a:chOff x="0" y="0"/>
              <a:chExt cx="3810000" cy="495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810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3810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810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17500" y="581025"/>
              <a:ext cx="1143000" cy="412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true">
                  <a:solidFill>
                    <a:srgbClr val="FF2E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17500" y="1558925"/>
              <a:ext cx="3175000" cy="92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Log multiple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workouts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67625" y="3048000"/>
            <a:ext cx="2857500" cy="3714750"/>
            <a:chOff x="0" y="0"/>
            <a:chExt cx="3810000" cy="4953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3810000" cy="4953000"/>
              <a:chOff x="0" y="0"/>
              <a:chExt cx="3810000" cy="4953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810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3810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3810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17500" y="581025"/>
              <a:ext cx="1143000" cy="412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true">
                  <a:solidFill>
                    <a:srgbClr val="7EE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17500" y="1558925"/>
              <a:ext cx="3175000" cy="92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Total calories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automatically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06125" y="3048000"/>
            <a:ext cx="2857500" cy="3714750"/>
            <a:chOff x="0" y="0"/>
            <a:chExt cx="3810000" cy="4953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3810000" cy="4953000"/>
              <a:chOff x="0" y="0"/>
              <a:chExt cx="3810000" cy="4953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810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3810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3810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17500" y="581025"/>
              <a:ext cx="1143000" cy="412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true">
                  <a:solidFill>
                    <a:srgbClr val="FF2E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317500" y="1558925"/>
              <a:ext cx="3175000" cy="92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Check goal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achievement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144625" y="3048000"/>
            <a:ext cx="2857500" cy="3714750"/>
            <a:chOff x="0" y="0"/>
            <a:chExt cx="3810000" cy="49530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3810000" cy="4953000"/>
              <a:chOff x="0" y="0"/>
              <a:chExt cx="3810000" cy="4953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810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3810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3810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17500" y="581025"/>
              <a:ext cx="1143000" cy="412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true">
                  <a:solidFill>
                    <a:srgbClr val="7EE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17500" y="1558925"/>
              <a:ext cx="3175000" cy="92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Calculate BMI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and category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6800" y="9429750"/>
            <a:ext cx="16154400" cy="0"/>
          </a:xfrm>
          <a:prstGeom prst="line">
            <a:avLst/>
          </a:prstGeom>
          <a:ln cap="flat" w="9525">
            <a:solidFill>
              <a:srgbClr val="4443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9629775"/>
            <a:ext cx="4953000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PERSONAL FITNESS / JAVA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1066800"/>
            <a:ext cx="1143000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b="true">
                <a:solidFill>
                  <a:srgbClr val="98B0F8"/>
                </a:solidFill>
                <a:latin typeface="Poppins Bold"/>
                <a:ea typeface="Poppins Bold"/>
                <a:cs typeface="Poppins Bold"/>
                <a:sym typeface="Poppins Bold"/>
              </a:rPr>
              <a:t>Today’s method leaves gaps.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66800" y="2857500"/>
            <a:ext cx="7524750" cy="5143500"/>
            <a:chOff x="0" y="0"/>
            <a:chExt cx="10033000" cy="6858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033000" cy="6858000"/>
              <a:chOff x="0" y="0"/>
              <a:chExt cx="10033000" cy="6858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033000" cy="6858000"/>
              </a:xfrm>
              <a:custGeom>
                <a:avLst/>
                <a:gdLst/>
                <a:ahLst/>
                <a:cxnLst/>
                <a:rect r="r" b="b" t="t" l="l"/>
                <a:pathLst>
                  <a:path h="685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033000" cy="689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3100" y="381000"/>
              <a:ext cx="2413000" cy="794893"/>
              <a:chOff x="0" y="0"/>
              <a:chExt cx="2413000" cy="7948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413000" cy="794893"/>
              </a:xfrm>
              <a:custGeom>
                <a:avLst/>
                <a:gdLst/>
                <a:ahLst/>
                <a:cxnLst/>
                <a:rect r="r" b="b" t="t" l="l"/>
                <a:pathLst>
                  <a:path h="794893" w="2413000">
                    <a:moveTo>
                      <a:pt x="334211" y="0"/>
                    </a:moveTo>
                    <a:lnTo>
                      <a:pt x="2078789" y="0"/>
                    </a:lnTo>
                    <a:cubicBezTo>
                      <a:pt x="2167428" y="0"/>
                      <a:pt x="2252435" y="35211"/>
                      <a:pt x="2315112" y="97888"/>
                    </a:cubicBezTo>
                    <a:cubicBezTo>
                      <a:pt x="2377789" y="160565"/>
                      <a:pt x="2413000" y="245572"/>
                      <a:pt x="2413000" y="334211"/>
                    </a:cubicBezTo>
                    <a:lnTo>
                      <a:pt x="2413000" y="460682"/>
                    </a:lnTo>
                    <a:cubicBezTo>
                      <a:pt x="2413000" y="549321"/>
                      <a:pt x="2377789" y="634328"/>
                      <a:pt x="2315112" y="697005"/>
                    </a:cubicBezTo>
                    <a:cubicBezTo>
                      <a:pt x="2252435" y="759682"/>
                      <a:pt x="2167428" y="794893"/>
                      <a:pt x="2078789" y="794893"/>
                    </a:cubicBezTo>
                    <a:lnTo>
                      <a:pt x="334211" y="794893"/>
                    </a:lnTo>
                    <a:cubicBezTo>
                      <a:pt x="245572" y="794893"/>
                      <a:pt x="160565" y="759682"/>
                      <a:pt x="97888" y="697005"/>
                    </a:cubicBezTo>
                    <a:cubicBezTo>
                      <a:pt x="35211" y="634328"/>
                      <a:pt x="0" y="549321"/>
                      <a:pt x="0" y="460682"/>
                    </a:cubicBezTo>
                    <a:lnTo>
                      <a:pt x="0" y="334211"/>
                    </a:lnTo>
                    <a:cubicBezTo>
                      <a:pt x="0" y="245572"/>
                      <a:pt x="35211" y="160565"/>
                      <a:pt x="97888" y="97888"/>
                    </a:cubicBezTo>
                    <a:cubicBezTo>
                      <a:pt x="160565" y="35211"/>
                      <a:pt x="245572" y="0"/>
                      <a:pt x="334211" y="0"/>
                    </a:cubicBezTo>
                    <a:close/>
                  </a:path>
                </a:pathLst>
              </a:custGeom>
              <a:solidFill>
                <a:srgbClr val="7EE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2413000" cy="8234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  <a:r>
                  <a:rPr lang="en-US" b="true" sz="1350" spc="162">
                    <a:solidFill>
                      <a:srgbClr val="08070C"/>
                    </a:solidFill>
                    <a:latin typeface="Nunito Sans Expanded Bold"/>
                    <a:ea typeface="Nunito Sans Expanded Bold"/>
                    <a:cs typeface="Nunito Sans Expanded Bold"/>
                    <a:sym typeface="Nunito Sans Expanded Bold"/>
                  </a:rPr>
                  <a:t>CURRENT STATE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736600" y="1572197"/>
              <a:ext cx="77470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3000" b="true">
                  <a:solidFill>
                    <a:srgbClr val="7EE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How it works today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73100" y="2492375"/>
              <a:ext cx="7874000" cy="997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Notebooks and memory</a:t>
              </a:r>
            </a:p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Separate BMI websites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20250" y="2857500"/>
            <a:ext cx="7600950" cy="5143500"/>
            <a:chOff x="0" y="0"/>
            <a:chExt cx="10134600" cy="6858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134600" cy="6858000"/>
              <a:chOff x="0" y="0"/>
              <a:chExt cx="10134600" cy="6858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134600" cy="6858000"/>
              </a:xfrm>
              <a:custGeom>
                <a:avLst/>
                <a:gdLst/>
                <a:ahLst/>
                <a:cxnLst/>
                <a:rect r="r" b="b" t="t" l="l"/>
                <a:pathLst>
                  <a:path h="6858000" w="10134600">
                    <a:moveTo>
                      <a:pt x="0" y="0"/>
                    </a:moveTo>
                    <a:lnTo>
                      <a:pt x="10134600" y="0"/>
                    </a:lnTo>
                    <a:lnTo>
                      <a:pt x="101346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134600" cy="689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508000" y="381000"/>
              <a:ext cx="1905000" cy="533400"/>
              <a:chOff x="0" y="0"/>
              <a:chExt cx="1905000" cy="533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050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1905000">
                    <a:moveTo>
                      <a:pt x="266700" y="0"/>
                    </a:moveTo>
                    <a:lnTo>
                      <a:pt x="1638300" y="0"/>
                    </a:lnTo>
                    <a:cubicBezTo>
                      <a:pt x="1785594" y="0"/>
                      <a:pt x="1905000" y="119406"/>
                      <a:pt x="1905000" y="266700"/>
                    </a:cubicBezTo>
                    <a:lnTo>
                      <a:pt x="1905000" y="266700"/>
                    </a:lnTo>
                    <a:cubicBezTo>
                      <a:pt x="1905000" y="413994"/>
                      <a:pt x="1785594" y="533400"/>
                      <a:pt x="1638300" y="533400"/>
                    </a:cubicBezTo>
                    <a:lnTo>
                      <a:pt x="266700" y="533400"/>
                    </a:lnTo>
                    <a:cubicBezTo>
                      <a:pt x="119406" y="533400"/>
                      <a:pt x="0" y="413994"/>
                      <a:pt x="0" y="266700"/>
                    </a:cubicBezTo>
                    <a:lnTo>
                      <a:pt x="0" y="266700"/>
                    </a:lnTo>
                    <a:cubicBezTo>
                      <a:pt x="0" y="119406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FF2E6E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1905000" cy="561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  <a:r>
                  <a:rPr lang="en-US" b="true" sz="1350" spc="162">
                    <a:solidFill>
                      <a:srgbClr val="08070C"/>
                    </a:solidFill>
                    <a:latin typeface="Nunito Sans Expanded Bold"/>
                    <a:ea typeface="Nunito Sans Expanded Bold"/>
                    <a:cs typeface="Nunito Sans Expanded Bold"/>
                    <a:sym typeface="Nunito Sans Expanded Bold"/>
                  </a:rPr>
                  <a:t>THE GAP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08000" y="1441450"/>
              <a:ext cx="77470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3000" b="true">
                  <a:solidFill>
                    <a:srgbClr val="FF2E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Where it falls short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08000" y="2492375"/>
              <a:ext cx="7874000" cy="1505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Manual math errors</a:t>
              </a:r>
            </a:p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No single tracking place</a:t>
              </a:r>
            </a:p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Easy to lose data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6800" y="9429750"/>
            <a:ext cx="16154400" cy="0"/>
          </a:xfrm>
          <a:prstGeom prst="line">
            <a:avLst/>
          </a:prstGeom>
          <a:ln cap="flat" w="9525">
            <a:solidFill>
              <a:srgbClr val="4443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9629775"/>
            <a:ext cx="4953000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PERSONAL FITNESS / JAVA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1066800"/>
            <a:ext cx="1143000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b="true">
                <a:solidFill>
                  <a:srgbClr val="98B0F8"/>
                </a:solidFill>
                <a:latin typeface="Poppins Bold"/>
                <a:ea typeface="Poppins Bold"/>
                <a:cs typeface="Poppins Bold"/>
                <a:sym typeface="Poppins Bold"/>
              </a:rPr>
              <a:t>One program. Every essential.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66800" y="2857500"/>
            <a:ext cx="9239250" cy="4953000"/>
            <a:chOff x="0" y="0"/>
            <a:chExt cx="12319000" cy="6604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319000" cy="6604000"/>
              <a:chOff x="0" y="0"/>
              <a:chExt cx="12319000" cy="6604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23190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12319000">
                    <a:moveTo>
                      <a:pt x="0" y="0"/>
                    </a:moveTo>
                    <a:lnTo>
                      <a:pt x="12319000" y="0"/>
                    </a:lnTo>
                    <a:lnTo>
                      <a:pt x="12319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23190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09600" y="792475"/>
              <a:ext cx="3048000" cy="794893"/>
              <a:chOff x="0" y="0"/>
              <a:chExt cx="3048000" cy="7948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048000" cy="794893"/>
              </a:xfrm>
              <a:custGeom>
                <a:avLst/>
                <a:gdLst/>
                <a:ahLst/>
                <a:cxnLst/>
                <a:rect r="r" b="b" t="t" l="l"/>
                <a:pathLst>
                  <a:path h="794893" w="3048000">
                    <a:moveTo>
                      <a:pt x="264583" y="0"/>
                    </a:moveTo>
                    <a:lnTo>
                      <a:pt x="2783417" y="0"/>
                    </a:lnTo>
                    <a:cubicBezTo>
                      <a:pt x="2853589" y="0"/>
                      <a:pt x="2920886" y="27876"/>
                      <a:pt x="2970505" y="77495"/>
                    </a:cubicBezTo>
                    <a:cubicBezTo>
                      <a:pt x="3020124" y="127114"/>
                      <a:pt x="3048000" y="194411"/>
                      <a:pt x="3048000" y="264583"/>
                    </a:cubicBezTo>
                    <a:lnTo>
                      <a:pt x="3048000" y="530310"/>
                    </a:lnTo>
                    <a:cubicBezTo>
                      <a:pt x="3048000" y="600482"/>
                      <a:pt x="3020124" y="667779"/>
                      <a:pt x="2970505" y="717398"/>
                    </a:cubicBezTo>
                    <a:cubicBezTo>
                      <a:pt x="2920886" y="767017"/>
                      <a:pt x="2853589" y="794893"/>
                      <a:pt x="2783417" y="794893"/>
                    </a:cubicBezTo>
                    <a:lnTo>
                      <a:pt x="264583" y="794893"/>
                    </a:lnTo>
                    <a:cubicBezTo>
                      <a:pt x="194411" y="794893"/>
                      <a:pt x="127114" y="767017"/>
                      <a:pt x="77495" y="717398"/>
                    </a:cubicBezTo>
                    <a:cubicBezTo>
                      <a:pt x="27876" y="667779"/>
                      <a:pt x="0" y="600482"/>
                      <a:pt x="0" y="530310"/>
                    </a:cubicBezTo>
                    <a:lnTo>
                      <a:pt x="0" y="264583"/>
                    </a:lnTo>
                    <a:cubicBezTo>
                      <a:pt x="0" y="194411"/>
                      <a:pt x="27876" y="127114"/>
                      <a:pt x="77495" y="77495"/>
                    </a:cubicBezTo>
                    <a:cubicBezTo>
                      <a:pt x="127114" y="27876"/>
                      <a:pt x="194411" y="0"/>
                      <a:pt x="264583" y="0"/>
                    </a:cubicBezTo>
                    <a:close/>
                  </a:path>
                </a:pathLst>
              </a:custGeom>
              <a:solidFill>
                <a:srgbClr val="B080F8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3048000" cy="8234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  <a:r>
                  <a:rPr lang="en-US" b="true" sz="1350" spc="162">
                    <a:solidFill>
                      <a:srgbClr val="08070C"/>
                    </a:solidFill>
                    <a:latin typeface="Nunito Sans Expanded Bold"/>
                    <a:ea typeface="Nunito Sans Expanded Bold"/>
                    <a:cs typeface="Nunito Sans Expanded Bold"/>
                    <a:sym typeface="Nunito Sans Expanded Bold"/>
                  </a:rPr>
                  <a:t>PROPOSED SYSTEM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09600" y="1977072"/>
              <a:ext cx="10160000" cy="2200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One Java program handles tracking in a single run. It records workouts, provides instant calorie totals, and keeps the interface simple and user-friendly.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609600" y="4953000"/>
              <a:ext cx="2159000" cy="533400"/>
              <a:chOff x="0" y="0"/>
              <a:chExt cx="2159000" cy="533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590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2159000">
                    <a:moveTo>
                      <a:pt x="266700" y="0"/>
                    </a:moveTo>
                    <a:lnTo>
                      <a:pt x="1892300" y="0"/>
                    </a:lnTo>
                    <a:cubicBezTo>
                      <a:pt x="2039594" y="0"/>
                      <a:pt x="2159000" y="119406"/>
                      <a:pt x="2159000" y="266700"/>
                    </a:cubicBezTo>
                    <a:lnTo>
                      <a:pt x="2159000" y="266700"/>
                    </a:lnTo>
                    <a:cubicBezTo>
                      <a:pt x="2159000" y="413994"/>
                      <a:pt x="2039594" y="533400"/>
                      <a:pt x="1892300" y="533400"/>
                    </a:cubicBezTo>
                    <a:lnTo>
                      <a:pt x="266700" y="533400"/>
                    </a:lnTo>
                    <a:cubicBezTo>
                      <a:pt x="119406" y="533400"/>
                      <a:pt x="0" y="413994"/>
                      <a:pt x="0" y="266700"/>
                    </a:cubicBezTo>
                    <a:lnTo>
                      <a:pt x="0" y="266700"/>
                    </a:lnTo>
                    <a:cubicBezTo>
                      <a:pt x="0" y="119406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7EE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159000" cy="561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  <a:r>
                  <a:rPr lang="en-US" b="true" sz="1350" spc="162">
                    <a:solidFill>
                      <a:srgbClr val="08070C"/>
                    </a:solidFill>
                    <a:latin typeface="Nunito Sans Expanded Bold"/>
                    <a:ea typeface="Nunito Sans Expanded Bold"/>
                    <a:cs typeface="Nunito Sans Expanded Bold"/>
                    <a:sym typeface="Nunito Sans Expanded Bold"/>
                  </a:rPr>
                  <a:t>ONE PLACE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022600" y="4953000"/>
              <a:ext cx="2667000" cy="794893"/>
              <a:chOff x="0" y="0"/>
              <a:chExt cx="2667000" cy="79489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667000" cy="794893"/>
              </a:xfrm>
              <a:custGeom>
                <a:avLst/>
                <a:gdLst/>
                <a:ahLst/>
                <a:cxnLst/>
                <a:rect r="r" b="b" t="t" l="l"/>
                <a:pathLst>
                  <a:path h="794893" w="2667000">
                    <a:moveTo>
                      <a:pt x="302381" y="0"/>
                    </a:moveTo>
                    <a:lnTo>
                      <a:pt x="2364619" y="0"/>
                    </a:lnTo>
                    <a:cubicBezTo>
                      <a:pt x="2531620" y="0"/>
                      <a:pt x="2667000" y="135381"/>
                      <a:pt x="2667000" y="302381"/>
                    </a:cubicBezTo>
                    <a:lnTo>
                      <a:pt x="2667000" y="492512"/>
                    </a:lnTo>
                    <a:cubicBezTo>
                      <a:pt x="2667000" y="659512"/>
                      <a:pt x="2531620" y="794893"/>
                      <a:pt x="2364619" y="794893"/>
                    </a:cubicBezTo>
                    <a:lnTo>
                      <a:pt x="302381" y="794893"/>
                    </a:lnTo>
                    <a:cubicBezTo>
                      <a:pt x="222185" y="794893"/>
                      <a:pt x="145273" y="763035"/>
                      <a:pt x="88565" y="706328"/>
                    </a:cubicBezTo>
                    <a:cubicBezTo>
                      <a:pt x="31858" y="649620"/>
                      <a:pt x="0" y="572708"/>
                      <a:pt x="0" y="492512"/>
                    </a:cubicBezTo>
                    <a:lnTo>
                      <a:pt x="0" y="302381"/>
                    </a:lnTo>
                    <a:cubicBezTo>
                      <a:pt x="0" y="135381"/>
                      <a:pt x="135381" y="0"/>
                      <a:pt x="302381" y="0"/>
                    </a:cubicBezTo>
                    <a:close/>
                  </a:path>
                </a:pathLst>
              </a:custGeom>
              <a:solidFill>
                <a:srgbClr val="FF2E6E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2667000" cy="8234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  <a:r>
                  <a:rPr lang="en-US" b="true" sz="1350" spc="162">
                    <a:solidFill>
                      <a:srgbClr val="08070C"/>
                    </a:solidFill>
                    <a:latin typeface="Nunito Sans Expanded Bold"/>
                    <a:ea typeface="Nunito Sans Expanded Bold"/>
                    <a:cs typeface="Nunito Sans Expanded Bold"/>
                    <a:sym typeface="Nunito Sans Expanded Bold"/>
                  </a:rPr>
                  <a:t>INSTANT TOTALS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5943600" y="4953000"/>
              <a:ext cx="2667000" cy="533400"/>
              <a:chOff x="0" y="0"/>
              <a:chExt cx="2667000" cy="533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6670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2667000">
                    <a:moveTo>
                      <a:pt x="266700" y="0"/>
                    </a:moveTo>
                    <a:lnTo>
                      <a:pt x="2400300" y="0"/>
                    </a:lnTo>
                    <a:cubicBezTo>
                      <a:pt x="2547594" y="0"/>
                      <a:pt x="2667000" y="119406"/>
                      <a:pt x="2667000" y="266700"/>
                    </a:cubicBezTo>
                    <a:lnTo>
                      <a:pt x="2667000" y="266700"/>
                    </a:lnTo>
                    <a:cubicBezTo>
                      <a:pt x="2667000" y="413994"/>
                      <a:pt x="2547594" y="533400"/>
                      <a:pt x="2400300" y="533400"/>
                    </a:cubicBezTo>
                    <a:lnTo>
                      <a:pt x="266700" y="533400"/>
                    </a:lnTo>
                    <a:cubicBezTo>
                      <a:pt x="119406" y="533400"/>
                      <a:pt x="0" y="413994"/>
                      <a:pt x="0" y="266700"/>
                    </a:cubicBezTo>
                    <a:lnTo>
                      <a:pt x="0" y="266700"/>
                    </a:lnTo>
                    <a:cubicBezTo>
                      <a:pt x="0" y="119406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B080F8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2667000" cy="561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  <a:r>
                  <a:rPr lang="en-US" b="true" sz="1350" spc="162">
                    <a:solidFill>
                      <a:srgbClr val="08070C"/>
                    </a:solidFill>
                    <a:latin typeface="Nunito Sans Expanded Bold"/>
                    <a:ea typeface="Nunito Sans Expanded Bold"/>
                    <a:cs typeface="Nunito Sans Expanded Bold"/>
                    <a:sym typeface="Nunito Sans Expanded Bold"/>
                  </a:rPr>
                  <a:t>SIMPLE TO USE</a:t>
                </a:r>
              </a:p>
            </p:txBody>
          </p:sp>
        </p:grpSp>
      </p:grpSp>
      <p:sp>
        <p:nvSpPr>
          <p:cNvPr name="Freeform 22" id="22"/>
          <p:cNvSpPr/>
          <p:nvPr/>
        </p:nvSpPr>
        <p:spPr>
          <a:xfrm flipH="false" flipV="false" rot="0">
            <a:off x="11239500" y="2000250"/>
            <a:ext cx="5334000" cy="5810250"/>
          </a:xfrm>
          <a:custGeom>
            <a:avLst/>
            <a:gdLst/>
            <a:ahLst/>
            <a:cxnLst/>
            <a:rect r="r" b="b" t="t" l="l"/>
            <a:pathLst>
              <a:path h="5810250" w="5334000">
                <a:moveTo>
                  <a:pt x="0" y="0"/>
                </a:moveTo>
                <a:lnTo>
                  <a:pt x="5334000" y="0"/>
                </a:lnTo>
                <a:lnTo>
                  <a:pt x="5334000" y="5810250"/>
                </a:lnTo>
                <a:lnTo>
                  <a:pt x="0" y="581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" r="0" b="-29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8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6800" y="9429750"/>
            <a:ext cx="16154400" cy="0"/>
          </a:xfrm>
          <a:prstGeom prst="line">
            <a:avLst/>
          </a:prstGeom>
          <a:ln cap="flat" w="9525">
            <a:solidFill>
              <a:srgbClr val="4443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9629775"/>
            <a:ext cx="4953000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PERSONAL FITNESS / JAVA PROJECT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2857500"/>
            <a:ext cx="4762500" cy="4095750"/>
            <a:chOff x="0" y="0"/>
            <a:chExt cx="6350000" cy="546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6350000">
                  <a:moveTo>
                    <a:pt x="71120" y="0"/>
                  </a:moveTo>
                  <a:lnTo>
                    <a:pt x="6278880" y="0"/>
                  </a:lnTo>
                  <a:cubicBezTo>
                    <a:pt x="6297742" y="0"/>
                    <a:pt x="6315832" y="7493"/>
                    <a:pt x="6329169" y="20831"/>
                  </a:cubicBezTo>
                  <a:cubicBezTo>
                    <a:pt x="6342507" y="34168"/>
                    <a:pt x="6350000" y="52258"/>
                    <a:pt x="6350000" y="71120"/>
                  </a:cubicBezTo>
                  <a:lnTo>
                    <a:pt x="6350000" y="5389880"/>
                  </a:lnTo>
                  <a:cubicBezTo>
                    <a:pt x="6350000" y="5429159"/>
                    <a:pt x="6318159" y="5461000"/>
                    <a:pt x="6278880" y="5461000"/>
                  </a:cubicBezTo>
                  <a:lnTo>
                    <a:pt x="71120" y="5461000"/>
                  </a:lnTo>
                  <a:cubicBezTo>
                    <a:pt x="31842" y="5461000"/>
                    <a:pt x="0" y="5429159"/>
                    <a:pt x="0" y="5389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27262B"/>
            </a:solidFill>
            <a:ln w="19050" cap="rnd">
              <a:solidFill>
                <a:srgbClr val="7EE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6350000" cy="551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7EE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INPUT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6076950" y="4905375"/>
            <a:ext cx="561975" cy="0"/>
          </a:xfrm>
          <a:prstGeom prst="line">
            <a:avLst/>
          </a:prstGeom>
          <a:ln cap="rnd" w="38100">
            <a:solidFill>
              <a:srgbClr val="98B0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6810375" y="2857500"/>
            <a:ext cx="4762500" cy="4095750"/>
            <a:chOff x="0" y="0"/>
            <a:chExt cx="6350000" cy="546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6350000">
                  <a:moveTo>
                    <a:pt x="71120" y="0"/>
                  </a:moveTo>
                  <a:lnTo>
                    <a:pt x="6278880" y="0"/>
                  </a:lnTo>
                  <a:cubicBezTo>
                    <a:pt x="6297742" y="0"/>
                    <a:pt x="6315832" y="7493"/>
                    <a:pt x="6329169" y="20831"/>
                  </a:cubicBezTo>
                  <a:cubicBezTo>
                    <a:pt x="6342507" y="34168"/>
                    <a:pt x="6350000" y="52258"/>
                    <a:pt x="6350000" y="71120"/>
                  </a:cubicBezTo>
                  <a:lnTo>
                    <a:pt x="6350000" y="5389880"/>
                  </a:lnTo>
                  <a:cubicBezTo>
                    <a:pt x="6350000" y="5429159"/>
                    <a:pt x="6318159" y="5461000"/>
                    <a:pt x="6278880" y="5461000"/>
                  </a:cubicBezTo>
                  <a:lnTo>
                    <a:pt x="71120" y="5461000"/>
                  </a:lnTo>
                  <a:cubicBezTo>
                    <a:pt x="31842" y="5461000"/>
                    <a:pt x="0" y="5429159"/>
                    <a:pt x="0" y="5389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27262B"/>
            </a:solidFill>
            <a:ln w="19050" cap="rnd">
              <a:solidFill>
                <a:srgbClr val="B080F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350000" cy="551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B080F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PROCESSING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1744325" y="4905375"/>
            <a:ext cx="561975" cy="0"/>
          </a:xfrm>
          <a:prstGeom prst="line">
            <a:avLst/>
          </a:prstGeom>
          <a:ln cap="rnd" w="38100">
            <a:solidFill>
              <a:srgbClr val="98B0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2477750" y="2857500"/>
            <a:ext cx="4762500" cy="4095750"/>
            <a:chOff x="0" y="0"/>
            <a:chExt cx="6350000" cy="546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6350000">
                  <a:moveTo>
                    <a:pt x="71120" y="0"/>
                  </a:moveTo>
                  <a:lnTo>
                    <a:pt x="6278880" y="0"/>
                  </a:lnTo>
                  <a:cubicBezTo>
                    <a:pt x="6297742" y="0"/>
                    <a:pt x="6315832" y="7493"/>
                    <a:pt x="6329169" y="20831"/>
                  </a:cubicBezTo>
                  <a:cubicBezTo>
                    <a:pt x="6342507" y="34168"/>
                    <a:pt x="6350000" y="52258"/>
                    <a:pt x="6350000" y="71120"/>
                  </a:cubicBezTo>
                  <a:lnTo>
                    <a:pt x="6350000" y="5389880"/>
                  </a:lnTo>
                  <a:cubicBezTo>
                    <a:pt x="6350000" y="5429159"/>
                    <a:pt x="6318159" y="5461000"/>
                    <a:pt x="6278880" y="5461000"/>
                  </a:cubicBezTo>
                  <a:lnTo>
                    <a:pt x="71120" y="5461000"/>
                  </a:lnTo>
                  <a:cubicBezTo>
                    <a:pt x="31842" y="5461000"/>
                    <a:pt x="0" y="5429159"/>
                    <a:pt x="0" y="5389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27262B"/>
            </a:solidFill>
            <a:ln w="19050" cap="rnd">
              <a:solidFill>
                <a:srgbClr val="FF2E6E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6350000" cy="551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F2E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OUTPUT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66800" y="971550"/>
            <a:ext cx="123825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98B0F8"/>
                </a:solidFill>
                <a:latin typeface="Poppins Bold"/>
                <a:ea typeface="Poppins Bold"/>
                <a:cs typeface="Poppins Bold"/>
                <a:sym typeface="Poppins Bold"/>
              </a:rPr>
              <a:t>Input → logic → useful output.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4000" y="3450431"/>
            <a:ext cx="4095750" cy="966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F3F1F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Calorie goal, workout name, calories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F3F1F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Weight and height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77125" y="3450431"/>
            <a:ext cx="4095750" cy="966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F3F1F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While loop logs workouts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F3F1F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If-else checks progress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F3F1F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BMI formula + category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58750" y="3450431"/>
            <a:ext cx="4000500" cy="966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F3F1F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Daily report and goal message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F3F1F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BMI category + 7-day report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8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6800" y="9429750"/>
            <a:ext cx="16154400" cy="0"/>
          </a:xfrm>
          <a:prstGeom prst="line">
            <a:avLst/>
          </a:prstGeom>
          <a:ln cap="flat" w="9525">
            <a:solidFill>
              <a:srgbClr val="4443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9629775"/>
            <a:ext cx="4953000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PERSONAL FITNESS / JAVA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923925"/>
            <a:ext cx="114300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98B0F8"/>
                </a:solidFill>
                <a:latin typeface="Poppins Bold"/>
                <a:ea typeface="Poppins Bold"/>
                <a:cs typeface="Poppins Bold"/>
                <a:sym typeface="Poppins Bold"/>
              </a:rPr>
              <a:t>Six focused functionalities.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90625" y="2714625"/>
            <a:ext cx="5095875" cy="2333625"/>
            <a:chOff x="0" y="0"/>
            <a:chExt cx="6794500" cy="31115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794500" cy="3111500"/>
              <a:chOff x="0" y="0"/>
              <a:chExt cx="6794500" cy="3111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7945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794500">
                    <a:moveTo>
                      <a:pt x="0" y="0"/>
                    </a:moveTo>
                    <a:lnTo>
                      <a:pt x="6794500" y="0"/>
                    </a:lnTo>
                    <a:lnTo>
                      <a:pt x="67945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7945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1800" y="660400"/>
              <a:ext cx="914400" cy="914400"/>
              <a:chOff x="0" y="0"/>
              <a:chExt cx="914400" cy="914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64008" y="0"/>
                <a:ext cx="786384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786384">
                    <a:moveTo>
                      <a:pt x="393192" y="0"/>
                    </a:moveTo>
                    <a:lnTo>
                      <a:pt x="786384" y="228600"/>
                    </a:lnTo>
                    <a:lnTo>
                      <a:pt x="786384" y="685800"/>
                    </a:lnTo>
                    <a:lnTo>
                      <a:pt x="393192" y="914400"/>
                    </a:lnTo>
                    <a:lnTo>
                      <a:pt x="0" y="6858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7EE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651000" y="619125"/>
              <a:ext cx="4826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7EE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Set Daily Goal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651000" y="1504950"/>
              <a:ext cx="4953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AA7B2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User sets calorie target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10375" y="2714625"/>
            <a:ext cx="5095875" cy="2333625"/>
            <a:chOff x="0" y="0"/>
            <a:chExt cx="6794500" cy="31115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794500" cy="3111500"/>
              <a:chOff x="0" y="0"/>
              <a:chExt cx="6794500" cy="31115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7945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794500">
                    <a:moveTo>
                      <a:pt x="0" y="0"/>
                    </a:moveTo>
                    <a:lnTo>
                      <a:pt x="6794500" y="0"/>
                    </a:lnTo>
                    <a:lnTo>
                      <a:pt x="67945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7945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431800" y="660400"/>
              <a:ext cx="914400" cy="914400"/>
              <a:chOff x="0" y="0"/>
              <a:chExt cx="914400" cy="914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64008" y="0"/>
                <a:ext cx="786384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786384">
                    <a:moveTo>
                      <a:pt x="393192" y="0"/>
                    </a:moveTo>
                    <a:lnTo>
                      <a:pt x="786384" y="228600"/>
                    </a:lnTo>
                    <a:lnTo>
                      <a:pt x="786384" y="685800"/>
                    </a:lnTo>
                    <a:lnTo>
                      <a:pt x="393192" y="914400"/>
                    </a:lnTo>
                    <a:lnTo>
                      <a:pt x="0" y="6858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FF2E6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651000" y="619125"/>
              <a:ext cx="4826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FF2E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Log Workouts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651000" y="1504950"/>
              <a:ext cx="4953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AA7B2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Repeat until user says 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430125" y="2714625"/>
            <a:ext cx="5095875" cy="2333625"/>
            <a:chOff x="0" y="0"/>
            <a:chExt cx="6794500" cy="31115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6794500" cy="3111500"/>
              <a:chOff x="0" y="0"/>
              <a:chExt cx="6794500" cy="31115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7945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794500">
                    <a:moveTo>
                      <a:pt x="0" y="0"/>
                    </a:moveTo>
                    <a:lnTo>
                      <a:pt x="6794500" y="0"/>
                    </a:lnTo>
                    <a:lnTo>
                      <a:pt x="67945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67945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431800" y="660400"/>
              <a:ext cx="914400" cy="914400"/>
              <a:chOff x="0" y="0"/>
              <a:chExt cx="914400" cy="914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64008" y="0"/>
                <a:ext cx="786384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786384">
                    <a:moveTo>
                      <a:pt x="393192" y="0"/>
                    </a:moveTo>
                    <a:lnTo>
                      <a:pt x="786384" y="228600"/>
                    </a:lnTo>
                    <a:lnTo>
                      <a:pt x="786384" y="685800"/>
                    </a:lnTo>
                    <a:lnTo>
                      <a:pt x="393192" y="914400"/>
                    </a:lnTo>
                    <a:lnTo>
                      <a:pt x="0" y="6858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080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651000" y="619125"/>
              <a:ext cx="4826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B080F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Daily Report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651000" y="1504950"/>
              <a:ext cx="4953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AA7B2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Workouts + calories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90625" y="5715000"/>
            <a:ext cx="5095875" cy="2333625"/>
            <a:chOff x="0" y="0"/>
            <a:chExt cx="6794500" cy="31115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6794500" cy="3111500"/>
              <a:chOff x="0" y="0"/>
              <a:chExt cx="6794500" cy="31115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7945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794500">
                    <a:moveTo>
                      <a:pt x="0" y="0"/>
                    </a:moveTo>
                    <a:lnTo>
                      <a:pt x="6794500" y="0"/>
                    </a:lnTo>
                    <a:lnTo>
                      <a:pt x="67945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67945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431800" y="660400"/>
              <a:ext cx="914400" cy="914400"/>
              <a:chOff x="0" y="0"/>
              <a:chExt cx="914400" cy="9144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64008" y="0"/>
                <a:ext cx="786384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786384">
                    <a:moveTo>
                      <a:pt x="393192" y="0"/>
                    </a:moveTo>
                    <a:lnTo>
                      <a:pt x="786384" y="228600"/>
                    </a:lnTo>
                    <a:lnTo>
                      <a:pt x="786384" y="685800"/>
                    </a:lnTo>
                    <a:lnTo>
                      <a:pt x="393192" y="914400"/>
                    </a:lnTo>
                    <a:lnTo>
                      <a:pt x="0" y="6858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7EE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651000" y="619125"/>
              <a:ext cx="4826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7EE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Goal Check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651000" y="1504950"/>
              <a:ext cx="4953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AA7B2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Achieved or keep going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10375" y="5715000"/>
            <a:ext cx="5095875" cy="2333625"/>
            <a:chOff x="0" y="0"/>
            <a:chExt cx="6794500" cy="311150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6794500" cy="3111500"/>
              <a:chOff x="0" y="0"/>
              <a:chExt cx="6794500" cy="31115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7945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794500">
                    <a:moveTo>
                      <a:pt x="0" y="0"/>
                    </a:moveTo>
                    <a:lnTo>
                      <a:pt x="6794500" y="0"/>
                    </a:lnTo>
                    <a:lnTo>
                      <a:pt x="67945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67945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431800" y="660400"/>
              <a:ext cx="914400" cy="914400"/>
              <a:chOff x="0" y="0"/>
              <a:chExt cx="914400" cy="9144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64008" y="0"/>
                <a:ext cx="786384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786384">
                    <a:moveTo>
                      <a:pt x="393192" y="0"/>
                    </a:moveTo>
                    <a:lnTo>
                      <a:pt x="786384" y="228600"/>
                    </a:lnTo>
                    <a:lnTo>
                      <a:pt x="786384" y="685800"/>
                    </a:lnTo>
                    <a:lnTo>
                      <a:pt x="393192" y="914400"/>
                    </a:lnTo>
                    <a:lnTo>
                      <a:pt x="0" y="6858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FF2E6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1651000" y="619125"/>
              <a:ext cx="4826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FF2E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BMI Calculator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651000" y="1504950"/>
              <a:ext cx="4953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AA7B2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Uses weight and height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30125" y="5715000"/>
            <a:ext cx="5095875" cy="2333625"/>
            <a:chOff x="0" y="0"/>
            <a:chExt cx="6794500" cy="3111500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6794500" cy="3111500"/>
              <a:chOff x="0" y="0"/>
              <a:chExt cx="6794500" cy="31115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67945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794500">
                    <a:moveTo>
                      <a:pt x="0" y="0"/>
                    </a:moveTo>
                    <a:lnTo>
                      <a:pt x="6794500" y="0"/>
                    </a:lnTo>
                    <a:lnTo>
                      <a:pt x="67945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38100"/>
                <a:ext cx="67945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431800" y="660400"/>
              <a:ext cx="914400" cy="914400"/>
              <a:chOff x="0" y="0"/>
              <a:chExt cx="914400" cy="9144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64008" y="0"/>
                <a:ext cx="786384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786384">
                    <a:moveTo>
                      <a:pt x="393192" y="0"/>
                    </a:moveTo>
                    <a:lnTo>
                      <a:pt x="786384" y="228600"/>
                    </a:lnTo>
                    <a:lnTo>
                      <a:pt x="786384" y="685800"/>
                    </a:lnTo>
                    <a:lnTo>
                      <a:pt x="393192" y="914400"/>
                    </a:lnTo>
                    <a:lnTo>
                      <a:pt x="0" y="6858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B080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1651000" y="619125"/>
              <a:ext cx="4826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B080F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BMI Category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1651000" y="1504950"/>
              <a:ext cx="4953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AA7B2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Four health categories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8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6800" y="9429750"/>
            <a:ext cx="16154400" cy="0"/>
          </a:xfrm>
          <a:prstGeom prst="line">
            <a:avLst/>
          </a:prstGeom>
          <a:ln cap="flat" w="9525">
            <a:solidFill>
              <a:srgbClr val="4443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9629775"/>
            <a:ext cx="4953000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PERSONAL FITNESS / JAVA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971550"/>
            <a:ext cx="104775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98B0F8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 / Java code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7551" y="2437740"/>
            <a:ext cx="5122249" cy="5739400"/>
            <a:chOff x="0" y="0"/>
            <a:chExt cx="6829666" cy="765253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829666" cy="6694641"/>
              <a:chOff x="0" y="0"/>
              <a:chExt cx="6218950" cy="6096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218951" cy="6096000"/>
              </a:xfrm>
              <a:custGeom>
                <a:avLst/>
                <a:gdLst/>
                <a:ahLst/>
                <a:cxnLst/>
                <a:rect r="r" b="b" t="t" l="l"/>
                <a:pathLst>
                  <a:path h="6096000" w="6218951">
                    <a:moveTo>
                      <a:pt x="0" y="0"/>
                    </a:moveTo>
                    <a:lnTo>
                      <a:pt x="6218951" y="0"/>
                    </a:lnTo>
                    <a:lnTo>
                      <a:pt x="6218951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218950" cy="613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6829666" cy="753147"/>
              <a:chOff x="0" y="0"/>
              <a:chExt cx="6218950" cy="685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18951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6218951">
                    <a:moveTo>
                      <a:pt x="0" y="0"/>
                    </a:moveTo>
                    <a:lnTo>
                      <a:pt x="6218951" y="0"/>
                    </a:lnTo>
                    <a:lnTo>
                      <a:pt x="6218951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1B1A1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21895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15215" y="251049"/>
              <a:ext cx="157608" cy="167366"/>
              <a:chOff x="0" y="0"/>
              <a:chExt cx="143514" cy="152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3514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43514">
                    <a:moveTo>
                      <a:pt x="71757" y="0"/>
                    </a:moveTo>
                    <a:cubicBezTo>
                      <a:pt x="111387" y="0"/>
                      <a:pt x="143514" y="34116"/>
                      <a:pt x="143514" y="76200"/>
                    </a:cubicBezTo>
                    <a:cubicBezTo>
                      <a:pt x="143514" y="118284"/>
                      <a:pt x="111387" y="152400"/>
                      <a:pt x="71757" y="152400"/>
                    </a:cubicBezTo>
                    <a:cubicBezTo>
                      <a:pt x="32127" y="152400"/>
                      <a:pt x="0" y="118284"/>
                      <a:pt x="0" y="76200"/>
                    </a:cubicBezTo>
                    <a:cubicBezTo>
                      <a:pt x="0" y="34116"/>
                      <a:pt x="32127" y="0"/>
                      <a:pt x="71757" y="0"/>
                    </a:cubicBezTo>
                    <a:close/>
                  </a:path>
                </a:pathLst>
              </a:custGeom>
              <a:solidFill>
                <a:srgbClr val="FF2E6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43514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656699" y="251049"/>
              <a:ext cx="157608" cy="167366"/>
              <a:chOff x="0" y="0"/>
              <a:chExt cx="143514" cy="152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3514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43514">
                    <a:moveTo>
                      <a:pt x="71757" y="0"/>
                    </a:moveTo>
                    <a:cubicBezTo>
                      <a:pt x="111387" y="0"/>
                      <a:pt x="143514" y="34116"/>
                      <a:pt x="143514" y="76200"/>
                    </a:cubicBezTo>
                    <a:cubicBezTo>
                      <a:pt x="143514" y="118284"/>
                      <a:pt x="111387" y="152400"/>
                      <a:pt x="71757" y="152400"/>
                    </a:cubicBezTo>
                    <a:cubicBezTo>
                      <a:pt x="32127" y="152400"/>
                      <a:pt x="0" y="118284"/>
                      <a:pt x="0" y="76200"/>
                    </a:cubicBezTo>
                    <a:cubicBezTo>
                      <a:pt x="0" y="34116"/>
                      <a:pt x="32127" y="0"/>
                      <a:pt x="71757" y="0"/>
                    </a:cubicBezTo>
                    <a:close/>
                  </a:path>
                </a:pathLst>
              </a:custGeom>
              <a:solidFill>
                <a:srgbClr val="B080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43514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998182" y="251049"/>
              <a:ext cx="157608" cy="167366"/>
              <a:chOff x="0" y="0"/>
              <a:chExt cx="143514" cy="152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3514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43514">
                    <a:moveTo>
                      <a:pt x="71757" y="0"/>
                    </a:moveTo>
                    <a:cubicBezTo>
                      <a:pt x="111387" y="0"/>
                      <a:pt x="143514" y="34116"/>
                      <a:pt x="143514" y="76200"/>
                    </a:cubicBezTo>
                    <a:cubicBezTo>
                      <a:pt x="143514" y="118284"/>
                      <a:pt x="111387" y="152400"/>
                      <a:pt x="71757" y="152400"/>
                    </a:cubicBezTo>
                    <a:cubicBezTo>
                      <a:pt x="32127" y="152400"/>
                      <a:pt x="0" y="118284"/>
                      <a:pt x="0" y="76200"/>
                    </a:cubicBezTo>
                    <a:cubicBezTo>
                      <a:pt x="0" y="34116"/>
                      <a:pt x="32127" y="0"/>
                      <a:pt x="71757" y="0"/>
                    </a:cubicBezTo>
                    <a:close/>
                  </a:path>
                </a:pathLst>
              </a:custGeom>
              <a:solidFill>
                <a:srgbClr val="7EE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43514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5670" y="7204903"/>
              <a:ext cx="6566986" cy="447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7"/>
                </a:lnSpc>
              </a:pPr>
              <a:r>
                <a:rPr lang="en-US" sz="1976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While loop: log workouts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45887" y="2437740"/>
            <a:ext cx="5484703" cy="5739400"/>
            <a:chOff x="0" y="0"/>
            <a:chExt cx="7312937" cy="7652533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7312937" cy="6694641"/>
              <a:chOff x="0" y="0"/>
              <a:chExt cx="6659007" cy="6096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659007" cy="6096000"/>
              </a:xfrm>
              <a:custGeom>
                <a:avLst/>
                <a:gdLst/>
                <a:ahLst/>
                <a:cxnLst/>
                <a:rect r="r" b="b" t="t" l="l"/>
                <a:pathLst>
                  <a:path h="6096000" w="6659007">
                    <a:moveTo>
                      <a:pt x="0" y="0"/>
                    </a:moveTo>
                    <a:lnTo>
                      <a:pt x="6659007" y="0"/>
                    </a:lnTo>
                    <a:lnTo>
                      <a:pt x="6659007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6659007" cy="613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7312937" cy="753147"/>
              <a:chOff x="0" y="0"/>
              <a:chExt cx="6659007" cy="685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659007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6659007">
                    <a:moveTo>
                      <a:pt x="0" y="0"/>
                    </a:moveTo>
                    <a:lnTo>
                      <a:pt x="6659007" y="0"/>
                    </a:lnTo>
                    <a:lnTo>
                      <a:pt x="6659007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1B1A1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659007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337520" y="251049"/>
              <a:ext cx="168760" cy="167366"/>
              <a:chOff x="0" y="0"/>
              <a:chExt cx="153669" cy="1524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53669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53669">
                    <a:moveTo>
                      <a:pt x="76835" y="0"/>
                    </a:moveTo>
                    <a:cubicBezTo>
                      <a:pt x="119269" y="0"/>
                      <a:pt x="153669" y="34116"/>
                      <a:pt x="153669" y="76200"/>
                    </a:cubicBezTo>
                    <a:cubicBezTo>
                      <a:pt x="153669" y="118284"/>
                      <a:pt x="119269" y="152400"/>
                      <a:pt x="76835" y="152400"/>
                    </a:cubicBezTo>
                    <a:cubicBezTo>
                      <a:pt x="34400" y="152400"/>
                      <a:pt x="0" y="118284"/>
                      <a:pt x="0" y="76200"/>
                    </a:cubicBezTo>
                    <a:cubicBezTo>
                      <a:pt x="0" y="34116"/>
                      <a:pt x="34400" y="0"/>
                      <a:pt x="76835" y="0"/>
                    </a:cubicBezTo>
                    <a:close/>
                  </a:path>
                </a:pathLst>
              </a:custGeom>
              <a:solidFill>
                <a:srgbClr val="FF2E6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53669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703167" y="251049"/>
              <a:ext cx="168760" cy="167366"/>
              <a:chOff x="0" y="0"/>
              <a:chExt cx="153669" cy="152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53669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53669">
                    <a:moveTo>
                      <a:pt x="76835" y="0"/>
                    </a:moveTo>
                    <a:cubicBezTo>
                      <a:pt x="119269" y="0"/>
                      <a:pt x="153669" y="34116"/>
                      <a:pt x="153669" y="76200"/>
                    </a:cubicBezTo>
                    <a:cubicBezTo>
                      <a:pt x="153669" y="118284"/>
                      <a:pt x="119269" y="152400"/>
                      <a:pt x="76835" y="152400"/>
                    </a:cubicBezTo>
                    <a:cubicBezTo>
                      <a:pt x="34400" y="152400"/>
                      <a:pt x="0" y="118284"/>
                      <a:pt x="0" y="76200"/>
                    </a:cubicBezTo>
                    <a:cubicBezTo>
                      <a:pt x="0" y="34116"/>
                      <a:pt x="34400" y="0"/>
                      <a:pt x="76835" y="0"/>
                    </a:cubicBezTo>
                    <a:close/>
                  </a:path>
                </a:pathLst>
              </a:custGeom>
              <a:solidFill>
                <a:srgbClr val="B080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53669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068814" y="251049"/>
              <a:ext cx="168760" cy="167366"/>
              <a:chOff x="0" y="0"/>
              <a:chExt cx="153669" cy="152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53669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53669">
                    <a:moveTo>
                      <a:pt x="76835" y="0"/>
                    </a:moveTo>
                    <a:cubicBezTo>
                      <a:pt x="119269" y="0"/>
                      <a:pt x="153669" y="34116"/>
                      <a:pt x="153669" y="76200"/>
                    </a:cubicBezTo>
                    <a:cubicBezTo>
                      <a:pt x="153669" y="118284"/>
                      <a:pt x="119269" y="152400"/>
                      <a:pt x="76835" y="152400"/>
                    </a:cubicBezTo>
                    <a:cubicBezTo>
                      <a:pt x="34400" y="152400"/>
                      <a:pt x="0" y="118284"/>
                      <a:pt x="0" y="76200"/>
                    </a:cubicBezTo>
                    <a:cubicBezTo>
                      <a:pt x="0" y="34116"/>
                      <a:pt x="34400" y="0"/>
                      <a:pt x="76835" y="0"/>
                    </a:cubicBezTo>
                    <a:close/>
                  </a:path>
                </a:pathLst>
              </a:custGeom>
              <a:solidFill>
                <a:srgbClr val="7EE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53669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70317" y="7204903"/>
              <a:ext cx="7031670" cy="447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7"/>
                </a:lnSpc>
              </a:pPr>
              <a:r>
                <a:rPr lang="en-US" sz="1976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If-else: goal check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359215" y="2437740"/>
            <a:ext cx="5320530" cy="5739400"/>
            <a:chOff x="0" y="0"/>
            <a:chExt cx="7094040" cy="7652533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7094040" cy="6694641"/>
              <a:chOff x="0" y="0"/>
              <a:chExt cx="6459684" cy="6096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459684" cy="6096000"/>
              </a:xfrm>
              <a:custGeom>
                <a:avLst/>
                <a:gdLst/>
                <a:ahLst/>
                <a:cxnLst/>
                <a:rect r="r" b="b" t="t" l="l"/>
                <a:pathLst>
                  <a:path h="6096000" w="6459684">
                    <a:moveTo>
                      <a:pt x="0" y="0"/>
                    </a:moveTo>
                    <a:lnTo>
                      <a:pt x="6459684" y="0"/>
                    </a:lnTo>
                    <a:lnTo>
                      <a:pt x="6459684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6459684" cy="613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0"/>
              <a:ext cx="7094040" cy="753147"/>
              <a:chOff x="0" y="0"/>
              <a:chExt cx="6459684" cy="685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6459684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6459684">
                    <a:moveTo>
                      <a:pt x="0" y="0"/>
                    </a:moveTo>
                    <a:lnTo>
                      <a:pt x="6459684" y="0"/>
                    </a:lnTo>
                    <a:lnTo>
                      <a:pt x="6459684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1B1A1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6459684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327417" y="251049"/>
              <a:ext cx="163709" cy="167366"/>
              <a:chOff x="0" y="0"/>
              <a:chExt cx="149070" cy="1524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4907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49070">
                    <a:moveTo>
                      <a:pt x="74535" y="0"/>
                    </a:moveTo>
                    <a:cubicBezTo>
                      <a:pt x="115699" y="0"/>
                      <a:pt x="149070" y="34116"/>
                      <a:pt x="149070" y="76200"/>
                    </a:cubicBezTo>
                    <a:cubicBezTo>
                      <a:pt x="149070" y="118284"/>
                      <a:pt x="115699" y="152400"/>
                      <a:pt x="74535" y="152400"/>
                    </a:cubicBezTo>
                    <a:cubicBezTo>
                      <a:pt x="33370" y="152400"/>
                      <a:pt x="0" y="118284"/>
                      <a:pt x="0" y="76200"/>
                    </a:cubicBezTo>
                    <a:cubicBezTo>
                      <a:pt x="0" y="34116"/>
                      <a:pt x="33370" y="0"/>
                      <a:pt x="74535" y="0"/>
                    </a:cubicBezTo>
                    <a:close/>
                  </a:path>
                </a:pathLst>
              </a:custGeom>
              <a:solidFill>
                <a:srgbClr val="FF2E6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14907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682119" y="251049"/>
              <a:ext cx="163709" cy="167366"/>
              <a:chOff x="0" y="0"/>
              <a:chExt cx="149070" cy="1524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4907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49070">
                    <a:moveTo>
                      <a:pt x="74535" y="0"/>
                    </a:moveTo>
                    <a:cubicBezTo>
                      <a:pt x="115699" y="0"/>
                      <a:pt x="149070" y="34116"/>
                      <a:pt x="149070" y="76200"/>
                    </a:cubicBezTo>
                    <a:cubicBezTo>
                      <a:pt x="149070" y="118284"/>
                      <a:pt x="115699" y="152400"/>
                      <a:pt x="74535" y="152400"/>
                    </a:cubicBezTo>
                    <a:cubicBezTo>
                      <a:pt x="33370" y="152400"/>
                      <a:pt x="0" y="118284"/>
                      <a:pt x="0" y="76200"/>
                    </a:cubicBezTo>
                    <a:cubicBezTo>
                      <a:pt x="0" y="34116"/>
                      <a:pt x="33370" y="0"/>
                      <a:pt x="74535" y="0"/>
                    </a:cubicBezTo>
                    <a:close/>
                  </a:path>
                </a:pathLst>
              </a:custGeom>
              <a:solidFill>
                <a:srgbClr val="B080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14907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1036821" y="251049"/>
              <a:ext cx="163709" cy="167366"/>
              <a:chOff x="0" y="0"/>
              <a:chExt cx="149070" cy="1524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4907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49070">
                    <a:moveTo>
                      <a:pt x="74535" y="0"/>
                    </a:moveTo>
                    <a:cubicBezTo>
                      <a:pt x="115699" y="0"/>
                      <a:pt x="149070" y="34116"/>
                      <a:pt x="149070" y="76200"/>
                    </a:cubicBezTo>
                    <a:cubicBezTo>
                      <a:pt x="149070" y="118284"/>
                      <a:pt x="115699" y="152400"/>
                      <a:pt x="74535" y="152400"/>
                    </a:cubicBezTo>
                    <a:cubicBezTo>
                      <a:pt x="33370" y="152400"/>
                      <a:pt x="0" y="118284"/>
                      <a:pt x="0" y="76200"/>
                    </a:cubicBezTo>
                    <a:cubicBezTo>
                      <a:pt x="0" y="34116"/>
                      <a:pt x="33370" y="0"/>
                      <a:pt x="74535" y="0"/>
                    </a:cubicBezTo>
                    <a:close/>
                  </a:path>
                </a:pathLst>
              </a:custGeom>
              <a:solidFill>
                <a:srgbClr val="7EE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4907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68212" y="7204903"/>
              <a:ext cx="6821192" cy="447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7"/>
                </a:lnSpc>
              </a:pPr>
              <a:r>
                <a:rPr lang="en-US" sz="1976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BMI and else-if categories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613120" y="3340553"/>
            <a:ext cx="5406680" cy="390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33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while (true) {</a:t>
            </a:r>
          </a:p>
          <a:p>
            <a:pPr algn="ctr">
              <a:lnSpc>
                <a:spcPts val="1836"/>
              </a:lnSpc>
            </a:pPr>
            <a:r>
              <a:rPr lang="en-US" sz="133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System.out.println("\nWorkout " + (workoutCount + 1));</a:t>
            </a:r>
          </a:p>
          <a:p>
            <a:pPr algn="ctr">
              <a:lnSpc>
                <a:spcPts val="1836"/>
              </a:lnSpc>
            </a:pPr>
            <a:r>
              <a:rPr lang="en-US" sz="133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System.out.print("Enter Workout Name: ");</a:t>
            </a:r>
          </a:p>
          <a:p>
            <a:pPr algn="ctr">
              <a:lnSpc>
                <a:spcPts val="1836"/>
              </a:lnSpc>
            </a:pPr>
            <a:r>
              <a:rPr lang="en-US" sz="133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sc.nextLine(); // clear buffer</a:t>
            </a:r>
          </a:p>
          <a:p>
            <a:pPr algn="ctr">
              <a:lnSpc>
                <a:spcPts val="1836"/>
              </a:lnSpc>
            </a:pPr>
            <a:r>
              <a:rPr lang="en-US" sz="133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String workout = sc.nextLine();</a:t>
            </a:r>
          </a:p>
          <a:p>
            <a:pPr algn="ctr">
              <a:lnSpc>
                <a:spcPts val="1836"/>
              </a:lnSpc>
            </a:pPr>
            <a:r>
              <a:rPr lang="en-US" sz="133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System.out.print("Enter Calories Burned: ");</a:t>
            </a:r>
          </a:p>
          <a:p>
            <a:pPr algn="ctr">
              <a:lnSpc>
                <a:spcPts val="1836"/>
              </a:lnSpc>
            </a:pPr>
            <a:r>
              <a:rPr lang="en-US" sz="133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int calories = sc.nextInt();</a:t>
            </a:r>
          </a:p>
          <a:p>
            <a:pPr algn="ctr">
              <a:lnSpc>
                <a:spcPts val="1836"/>
              </a:lnSpc>
            </a:pPr>
            <a:r>
              <a:rPr lang="en-US" sz="133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totalCalories += calories;</a:t>
            </a:r>
          </a:p>
          <a:p>
            <a:pPr algn="ctr">
              <a:lnSpc>
                <a:spcPts val="1836"/>
              </a:lnSpc>
            </a:pPr>
            <a:r>
              <a:rPr lang="en-US" sz="133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workoutCount++;</a:t>
            </a:r>
          </a:p>
          <a:p>
            <a:pPr algn="ctr">
              <a:lnSpc>
                <a:spcPts val="1836"/>
              </a:lnSpc>
            </a:pPr>
            <a:r>
              <a:rPr lang="en-US" sz="133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System.out.print("Do you want to add another workout? (Y/N): ");</a:t>
            </a:r>
          </a:p>
          <a:p>
            <a:pPr algn="ctr">
              <a:lnSpc>
                <a:spcPts val="1836"/>
              </a:lnSpc>
            </a:pPr>
            <a:r>
              <a:rPr lang="en-US" sz="133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choice = sc.next().charAt(0);</a:t>
            </a:r>
          </a:p>
          <a:p>
            <a:pPr algn="ctr">
              <a:lnSpc>
                <a:spcPts val="1836"/>
              </a:lnSpc>
            </a:pPr>
            <a:r>
              <a:rPr lang="en-US" sz="133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if (choice == 'N' || choice == 'n') {</a:t>
            </a:r>
          </a:p>
          <a:p>
            <a:pPr algn="ctr">
              <a:lnSpc>
                <a:spcPts val="1836"/>
              </a:lnSpc>
            </a:pPr>
            <a:r>
              <a:rPr lang="en-US" sz="133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    break;</a:t>
            </a:r>
          </a:p>
          <a:p>
            <a:pPr algn="ctr">
              <a:lnSpc>
                <a:spcPts val="1836"/>
              </a:lnSpc>
            </a:pPr>
            <a:r>
              <a:rPr lang="en-US" sz="133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}</a:t>
            </a:r>
          </a:p>
          <a:p>
            <a:pPr algn="ctr">
              <a:lnSpc>
                <a:spcPts val="1836"/>
              </a:lnSpc>
              <a:spcBef>
                <a:spcPct val="0"/>
              </a:spcBef>
            </a:pPr>
            <a:r>
              <a:rPr lang="en-US" sz="133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}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591300" y="3190535"/>
            <a:ext cx="4953000" cy="420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7"/>
              </a:lnSpc>
            </a:pPr>
            <a:r>
              <a:rPr lang="en-US" sz="187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System.out.println("Total Workouts : " + workoutCount);</a:t>
            </a:r>
          </a:p>
          <a:p>
            <a:pPr algn="ctr">
              <a:lnSpc>
                <a:spcPts val="2587"/>
              </a:lnSpc>
            </a:pPr>
            <a:r>
              <a:rPr lang="en-US" sz="187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System.out.println("Total Calories Burned : " + totalCalories);</a:t>
            </a:r>
          </a:p>
          <a:p>
            <a:pPr algn="ctr">
              <a:lnSpc>
                <a:spcPts val="2587"/>
              </a:lnSpc>
            </a:pPr>
          </a:p>
          <a:p>
            <a:pPr algn="ctr">
              <a:lnSpc>
                <a:spcPts val="2587"/>
              </a:lnSpc>
            </a:pPr>
            <a:r>
              <a:rPr lang="en-US" sz="187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if (totalCalories &gt;= goal) {</a:t>
            </a:r>
          </a:p>
          <a:p>
            <a:pPr algn="ctr">
              <a:lnSpc>
                <a:spcPts val="2587"/>
              </a:lnSpc>
            </a:pPr>
            <a:r>
              <a:rPr lang="en-US" sz="187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System.out.println("Congratulations! Daily Goal Achieved.");</a:t>
            </a:r>
          </a:p>
          <a:p>
            <a:pPr algn="ctr">
              <a:lnSpc>
                <a:spcPts val="2587"/>
              </a:lnSpc>
            </a:pPr>
            <a:r>
              <a:rPr lang="en-US" sz="187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} else {</a:t>
            </a:r>
          </a:p>
          <a:p>
            <a:pPr algn="ctr">
              <a:lnSpc>
                <a:spcPts val="2587"/>
              </a:lnSpc>
            </a:pPr>
            <a:r>
              <a:rPr lang="en-US" sz="187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System.out.println("Goal Not Achieved. Keep Going!");</a:t>
            </a:r>
          </a:p>
          <a:p>
            <a:pPr algn="ctr">
              <a:lnSpc>
                <a:spcPts val="2587"/>
              </a:lnSpc>
              <a:spcBef>
                <a:spcPct val="0"/>
              </a:spcBef>
            </a:pPr>
            <a:r>
              <a:rPr lang="en-US" sz="187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}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323496" y="3143723"/>
            <a:ext cx="3391969" cy="4317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9"/>
              </a:lnSpc>
            </a:pPr>
            <a:r>
              <a:rPr lang="en-US" sz="119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double bmi = weight / (height * height);</a:t>
            </a:r>
          </a:p>
          <a:p>
            <a:pPr algn="ctr">
              <a:lnSpc>
                <a:spcPts val="1649"/>
              </a:lnSpc>
            </a:pPr>
            <a:r>
              <a:rPr lang="en-US" sz="119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System.out.printf("Your BMI = %.2f\n", bmi);</a:t>
            </a:r>
          </a:p>
          <a:p>
            <a:pPr algn="ctr">
              <a:lnSpc>
                <a:spcPts val="1649"/>
              </a:lnSpc>
            </a:pPr>
          </a:p>
          <a:p>
            <a:pPr algn="ctr">
              <a:lnSpc>
                <a:spcPts val="1649"/>
              </a:lnSpc>
            </a:pPr>
            <a:r>
              <a:rPr lang="en-US" sz="119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if (bmi &lt; 18.5) {</a:t>
            </a:r>
          </a:p>
          <a:p>
            <a:pPr algn="ctr">
              <a:lnSpc>
                <a:spcPts val="1649"/>
              </a:lnSpc>
            </a:pPr>
            <a:r>
              <a:rPr lang="en-US" sz="119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System.out.println("Category : Underweight");</a:t>
            </a:r>
          </a:p>
          <a:p>
            <a:pPr algn="ctr">
              <a:lnSpc>
                <a:spcPts val="1649"/>
              </a:lnSpc>
            </a:pPr>
            <a:r>
              <a:rPr lang="en-US" sz="119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}</a:t>
            </a:r>
          </a:p>
          <a:p>
            <a:pPr algn="ctr">
              <a:lnSpc>
                <a:spcPts val="1649"/>
              </a:lnSpc>
            </a:pPr>
            <a:r>
              <a:rPr lang="en-US" sz="119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else if (bmi &lt; 25) {</a:t>
            </a:r>
          </a:p>
          <a:p>
            <a:pPr algn="ctr">
              <a:lnSpc>
                <a:spcPts val="1649"/>
              </a:lnSpc>
            </a:pPr>
            <a:r>
              <a:rPr lang="en-US" sz="119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System.out.println("Category : Normal Weight");</a:t>
            </a:r>
          </a:p>
          <a:p>
            <a:pPr algn="ctr">
              <a:lnSpc>
                <a:spcPts val="1649"/>
              </a:lnSpc>
            </a:pPr>
            <a:r>
              <a:rPr lang="en-US" sz="119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}</a:t>
            </a:r>
          </a:p>
          <a:p>
            <a:pPr algn="ctr">
              <a:lnSpc>
                <a:spcPts val="1649"/>
              </a:lnSpc>
            </a:pPr>
            <a:r>
              <a:rPr lang="en-US" sz="119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else if (bmi &lt; 30) {</a:t>
            </a:r>
          </a:p>
          <a:p>
            <a:pPr algn="ctr">
              <a:lnSpc>
                <a:spcPts val="1649"/>
              </a:lnSpc>
            </a:pPr>
            <a:r>
              <a:rPr lang="en-US" sz="119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System.out.println("Category : Overweight");</a:t>
            </a:r>
          </a:p>
          <a:p>
            <a:pPr algn="ctr">
              <a:lnSpc>
                <a:spcPts val="1649"/>
              </a:lnSpc>
            </a:pPr>
            <a:r>
              <a:rPr lang="en-US" sz="119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}</a:t>
            </a:r>
          </a:p>
          <a:p>
            <a:pPr algn="ctr">
              <a:lnSpc>
                <a:spcPts val="1649"/>
              </a:lnSpc>
            </a:pPr>
            <a:r>
              <a:rPr lang="en-US" sz="119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else {</a:t>
            </a:r>
          </a:p>
          <a:p>
            <a:pPr algn="ctr">
              <a:lnSpc>
                <a:spcPts val="1649"/>
              </a:lnSpc>
            </a:pPr>
            <a:r>
              <a:rPr lang="en-US" sz="119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   System.out.println("Category : Obese");</a:t>
            </a:r>
          </a:p>
          <a:p>
            <a:pPr algn="ctr">
              <a:lnSpc>
                <a:spcPts val="1649"/>
              </a:lnSpc>
              <a:spcBef>
                <a:spcPct val="0"/>
              </a:spcBef>
            </a:pPr>
            <a:r>
              <a:rPr lang="en-US" sz="119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8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6800" y="9429750"/>
            <a:ext cx="16154400" cy="0"/>
          </a:xfrm>
          <a:prstGeom prst="line">
            <a:avLst/>
          </a:prstGeom>
          <a:ln cap="flat" w="9525">
            <a:solidFill>
              <a:srgbClr val="4443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9629775"/>
            <a:ext cx="4953000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PERSONAL FITNESS / JAVA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971550"/>
            <a:ext cx="104775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98B0F8"/>
                </a:solidFill>
                <a:latin typeface="Poppins Bold"/>
                <a:ea typeface="Poppins Bold"/>
                <a:cs typeface="Poppins Bold"/>
                <a:sym typeface="Poppins Bold"/>
              </a:rPr>
              <a:t>Output / console results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7107" y="2667000"/>
            <a:ext cx="5526876" cy="5831704"/>
            <a:chOff x="0" y="0"/>
            <a:chExt cx="7369168" cy="777560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369168" cy="6802309"/>
              <a:chOff x="0" y="0"/>
              <a:chExt cx="6604000" cy="6096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604000" cy="6096000"/>
              </a:xfrm>
              <a:custGeom>
                <a:avLst/>
                <a:gdLst/>
                <a:ahLst/>
                <a:cxnLst/>
                <a:rect r="r" b="b" t="t" l="l"/>
                <a:pathLst>
                  <a:path h="6096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604000" cy="613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7369168" cy="765260"/>
              <a:chOff x="0" y="0"/>
              <a:chExt cx="6604000" cy="685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604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1716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604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40115" y="255087"/>
              <a:ext cx="170058" cy="170058"/>
              <a:chOff x="0" y="0"/>
              <a:chExt cx="152400" cy="152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524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52400">
                    <a:moveTo>
                      <a:pt x="76200" y="0"/>
                    </a:moveTo>
                    <a:cubicBezTo>
                      <a:pt x="118284" y="0"/>
                      <a:pt x="152400" y="34116"/>
                      <a:pt x="152400" y="76200"/>
                    </a:cubicBezTo>
                    <a:cubicBezTo>
                      <a:pt x="152400" y="118284"/>
                      <a:pt x="118284" y="152400"/>
                      <a:pt x="76200" y="152400"/>
                    </a:cubicBezTo>
                    <a:cubicBezTo>
                      <a:pt x="34116" y="152400"/>
                      <a:pt x="0" y="118284"/>
                      <a:pt x="0" y="76200"/>
                    </a:cubicBez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2E6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524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708574" y="255087"/>
              <a:ext cx="170058" cy="170058"/>
              <a:chOff x="0" y="0"/>
              <a:chExt cx="152400" cy="152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524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52400">
                    <a:moveTo>
                      <a:pt x="76200" y="0"/>
                    </a:moveTo>
                    <a:cubicBezTo>
                      <a:pt x="118284" y="0"/>
                      <a:pt x="152400" y="34116"/>
                      <a:pt x="152400" y="76200"/>
                    </a:cubicBezTo>
                    <a:cubicBezTo>
                      <a:pt x="152400" y="118284"/>
                      <a:pt x="118284" y="152400"/>
                      <a:pt x="76200" y="152400"/>
                    </a:cubicBezTo>
                    <a:cubicBezTo>
                      <a:pt x="34116" y="152400"/>
                      <a:pt x="0" y="118284"/>
                      <a:pt x="0" y="76200"/>
                    </a:cubicBez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B080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524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077032" y="255087"/>
              <a:ext cx="170058" cy="170058"/>
              <a:chOff x="0" y="0"/>
              <a:chExt cx="152400" cy="152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524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52400">
                    <a:moveTo>
                      <a:pt x="76200" y="0"/>
                    </a:moveTo>
                    <a:cubicBezTo>
                      <a:pt x="118284" y="0"/>
                      <a:pt x="152400" y="34116"/>
                      <a:pt x="152400" y="76200"/>
                    </a:cubicBezTo>
                    <a:cubicBezTo>
                      <a:pt x="152400" y="118284"/>
                      <a:pt x="118284" y="152400"/>
                      <a:pt x="76200" y="152400"/>
                    </a:cubicBezTo>
                    <a:cubicBezTo>
                      <a:pt x="34116" y="152400"/>
                      <a:pt x="0" y="118284"/>
                      <a:pt x="0" y="76200"/>
                    </a:cubicBez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7EE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524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70857" y="7340593"/>
              <a:ext cx="7085738" cy="435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1"/>
                </a:lnSpc>
              </a:pPr>
              <a:r>
                <a:rPr lang="en-US" sz="2008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Workout logging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06052" y="2659607"/>
            <a:ext cx="5392887" cy="5831704"/>
            <a:chOff x="0" y="0"/>
            <a:chExt cx="7190517" cy="777560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7190517" cy="6802309"/>
              <a:chOff x="0" y="0"/>
              <a:chExt cx="6443899" cy="6096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443899" cy="6096000"/>
              </a:xfrm>
              <a:custGeom>
                <a:avLst/>
                <a:gdLst/>
                <a:ahLst/>
                <a:cxnLst/>
                <a:rect r="r" b="b" t="t" l="l"/>
                <a:pathLst>
                  <a:path h="6096000" w="6443899">
                    <a:moveTo>
                      <a:pt x="0" y="0"/>
                    </a:moveTo>
                    <a:lnTo>
                      <a:pt x="6443899" y="0"/>
                    </a:lnTo>
                    <a:lnTo>
                      <a:pt x="6443899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6443899" cy="613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7190517" cy="765260"/>
              <a:chOff x="0" y="0"/>
              <a:chExt cx="6443899" cy="685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443899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6443899">
                    <a:moveTo>
                      <a:pt x="0" y="0"/>
                    </a:moveTo>
                    <a:lnTo>
                      <a:pt x="6443899" y="0"/>
                    </a:lnTo>
                    <a:lnTo>
                      <a:pt x="6443899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1716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443899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331870" y="255087"/>
              <a:ext cx="165935" cy="170058"/>
              <a:chOff x="0" y="0"/>
              <a:chExt cx="148705" cy="1524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48705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48705">
                    <a:moveTo>
                      <a:pt x="74353" y="0"/>
                    </a:moveTo>
                    <a:cubicBezTo>
                      <a:pt x="115417" y="0"/>
                      <a:pt x="148705" y="34116"/>
                      <a:pt x="148705" y="76200"/>
                    </a:cubicBezTo>
                    <a:cubicBezTo>
                      <a:pt x="148705" y="118284"/>
                      <a:pt x="115417" y="152400"/>
                      <a:pt x="74353" y="152400"/>
                    </a:cubicBezTo>
                    <a:cubicBezTo>
                      <a:pt x="33289" y="152400"/>
                      <a:pt x="0" y="118284"/>
                      <a:pt x="0" y="76200"/>
                    </a:cubicBezTo>
                    <a:cubicBezTo>
                      <a:pt x="0" y="34116"/>
                      <a:pt x="33289" y="0"/>
                      <a:pt x="74353" y="0"/>
                    </a:cubicBezTo>
                    <a:close/>
                  </a:path>
                </a:pathLst>
              </a:custGeom>
              <a:solidFill>
                <a:srgbClr val="FF2E6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48705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691396" y="255087"/>
              <a:ext cx="165935" cy="170058"/>
              <a:chOff x="0" y="0"/>
              <a:chExt cx="148705" cy="152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48705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48705">
                    <a:moveTo>
                      <a:pt x="74353" y="0"/>
                    </a:moveTo>
                    <a:cubicBezTo>
                      <a:pt x="115417" y="0"/>
                      <a:pt x="148705" y="34116"/>
                      <a:pt x="148705" y="76200"/>
                    </a:cubicBezTo>
                    <a:cubicBezTo>
                      <a:pt x="148705" y="118284"/>
                      <a:pt x="115417" y="152400"/>
                      <a:pt x="74353" y="152400"/>
                    </a:cubicBezTo>
                    <a:cubicBezTo>
                      <a:pt x="33289" y="152400"/>
                      <a:pt x="0" y="118284"/>
                      <a:pt x="0" y="76200"/>
                    </a:cubicBezTo>
                    <a:cubicBezTo>
                      <a:pt x="0" y="34116"/>
                      <a:pt x="33289" y="0"/>
                      <a:pt x="74353" y="0"/>
                    </a:cubicBezTo>
                    <a:close/>
                  </a:path>
                </a:pathLst>
              </a:custGeom>
              <a:solidFill>
                <a:srgbClr val="B080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48705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050922" y="255087"/>
              <a:ext cx="165935" cy="170058"/>
              <a:chOff x="0" y="0"/>
              <a:chExt cx="148705" cy="152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48705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48705">
                    <a:moveTo>
                      <a:pt x="74353" y="0"/>
                    </a:moveTo>
                    <a:cubicBezTo>
                      <a:pt x="115417" y="0"/>
                      <a:pt x="148705" y="34116"/>
                      <a:pt x="148705" y="76200"/>
                    </a:cubicBezTo>
                    <a:cubicBezTo>
                      <a:pt x="148705" y="118284"/>
                      <a:pt x="115417" y="152400"/>
                      <a:pt x="74353" y="152400"/>
                    </a:cubicBezTo>
                    <a:cubicBezTo>
                      <a:pt x="33289" y="152400"/>
                      <a:pt x="0" y="118284"/>
                      <a:pt x="0" y="76200"/>
                    </a:cubicBezTo>
                    <a:cubicBezTo>
                      <a:pt x="0" y="34116"/>
                      <a:pt x="33289" y="0"/>
                      <a:pt x="74353" y="0"/>
                    </a:cubicBezTo>
                    <a:close/>
                  </a:path>
                </a:pathLst>
              </a:custGeom>
              <a:solidFill>
                <a:srgbClr val="7EE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48705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69140" y="7340593"/>
              <a:ext cx="6913958" cy="435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1"/>
                </a:lnSpc>
              </a:pPr>
              <a:r>
                <a:rPr lang="en-US" sz="2008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Daily report and goal result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351008" y="2667000"/>
            <a:ext cx="5004913" cy="5831704"/>
            <a:chOff x="0" y="0"/>
            <a:chExt cx="6673218" cy="7775606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6673218" cy="6802309"/>
              <a:chOff x="0" y="0"/>
              <a:chExt cx="5980313" cy="6096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5980313" cy="6096000"/>
              </a:xfrm>
              <a:custGeom>
                <a:avLst/>
                <a:gdLst/>
                <a:ahLst/>
                <a:cxnLst/>
                <a:rect r="r" b="b" t="t" l="l"/>
                <a:pathLst>
                  <a:path h="6096000" w="5980313">
                    <a:moveTo>
                      <a:pt x="0" y="0"/>
                    </a:moveTo>
                    <a:lnTo>
                      <a:pt x="5980313" y="0"/>
                    </a:lnTo>
                    <a:lnTo>
                      <a:pt x="5980313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5980313" cy="613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0"/>
              <a:ext cx="6673218" cy="765260"/>
              <a:chOff x="0" y="0"/>
              <a:chExt cx="5980313" cy="685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5980313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5980313">
                    <a:moveTo>
                      <a:pt x="0" y="0"/>
                    </a:moveTo>
                    <a:lnTo>
                      <a:pt x="5980313" y="0"/>
                    </a:lnTo>
                    <a:lnTo>
                      <a:pt x="5980313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1716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5980313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307995" y="255087"/>
              <a:ext cx="153997" cy="170058"/>
              <a:chOff x="0" y="0"/>
              <a:chExt cx="138007" cy="1524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38007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38007">
                    <a:moveTo>
                      <a:pt x="69004" y="0"/>
                    </a:moveTo>
                    <a:cubicBezTo>
                      <a:pt x="107113" y="0"/>
                      <a:pt x="138007" y="34116"/>
                      <a:pt x="138007" y="76200"/>
                    </a:cubicBezTo>
                    <a:cubicBezTo>
                      <a:pt x="138007" y="118284"/>
                      <a:pt x="107113" y="152400"/>
                      <a:pt x="69004" y="152400"/>
                    </a:cubicBezTo>
                    <a:cubicBezTo>
                      <a:pt x="30894" y="152400"/>
                      <a:pt x="0" y="118284"/>
                      <a:pt x="0" y="76200"/>
                    </a:cubicBezTo>
                    <a:cubicBezTo>
                      <a:pt x="0" y="34116"/>
                      <a:pt x="30894" y="0"/>
                      <a:pt x="69004" y="0"/>
                    </a:cubicBezTo>
                    <a:close/>
                  </a:path>
                </a:pathLst>
              </a:custGeom>
              <a:solidFill>
                <a:srgbClr val="FF2E6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138007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641656" y="255087"/>
              <a:ext cx="153997" cy="170058"/>
              <a:chOff x="0" y="0"/>
              <a:chExt cx="138007" cy="1524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38007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38007">
                    <a:moveTo>
                      <a:pt x="69004" y="0"/>
                    </a:moveTo>
                    <a:cubicBezTo>
                      <a:pt x="107113" y="0"/>
                      <a:pt x="138007" y="34116"/>
                      <a:pt x="138007" y="76200"/>
                    </a:cubicBezTo>
                    <a:cubicBezTo>
                      <a:pt x="138007" y="118284"/>
                      <a:pt x="107113" y="152400"/>
                      <a:pt x="69004" y="152400"/>
                    </a:cubicBezTo>
                    <a:cubicBezTo>
                      <a:pt x="30894" y="152400"/>
                      <a:pt x="0" y="118284"/>
                      <a:pt x="0" y="76200"/>
                    </a:cubicBezTo>
                    <a:cubicBezTo>
                      <a:pt x="0" y="34116"/>
                      <a:pt x="30894" y="0"/>
                      <a:pt x="69004" y="0"/>
                    </a:cubicBezTo>
                    <a:close/>
                  </a:path>
                </a:pathLst>
              </a:custGeom>
              <a:solidFill>
                <a:srgbClr val="B080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138007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975316" y="255087"/>
              <a:ext cx="153997" cy="170058"/>
              <a:chOff x="0" y="0"/>
              <a:chExt cx="138007" cy="1524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38007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38007">
                    <a:moveTo>
                      <a:pt x="69004" y="0"/>
                    </a:moveTo>
                    <a:cubicBezTo>
                      <a:pt x="107113" y="0"/>
                      <a:pt x="138007" y="34116"/>
                      <a:pt x="138007" y="76200"/>
                    </a:cubicBezTo>
                    <a:cubicBezTo>
                      <a:pt x="138007" y="118284"/>
                      <a:pt x="107113" y="152400"/>
                      <a:pt x="69004" y="152400"/>
                    </a:cubicBezTo>
                    <a:cubicBezTo>
                      <a:pt x="30894" y="152400"/>
                      <a:pt x="0" y="118284"/>
                      <a:pt x="0" y="76200"/>
                    </a:cubicBezTo>
                    <a:cubicBezTo>
                      <a:pt x="0" y="34116"/>
                      <a:pt x="30894" y="0"/>
                      <a:pt x="69004" y="0"/>
                    </a:cubicBezTo>
                    <a:close/>
                  </a:path>
                </a:pathLst>
              </a:custGeom>
              <a:solidFill>
                <a:srgbClr val="7EE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38007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64166" y="7340593"/>
              <a:ext cx="6416555" cy="435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1"/>
                </a:lnSpc>
              </a:pPr>
              <a:r>
                <a:rPr lang="en-US" sz="2008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BMI and weekly report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066800" y="3231619"/>
            <a:ext cx="5076825" cy="4082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494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====================================</a:t>
            </a:r>
          </a:p>
          <a:p>
            <a:pPr algn="ctr">
              <a:lnSpc>
                <a:spcPts val="2016"/>
              </a:lnSpc>
            </a:pPr>
            <a:r>
              <a:rPr lang="en-US" sz="1494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PERSONAL FITNESS &amp; WORKOUT TRACKER </a:t>
            </a:r>
          </a:p>
          <a:p>
            <a:pPr algn="ctr">
              <a:lnSpc>
                <a:spcPts val="2016"/>
              </a:lnSpc>
            </a:pPr>
            <a:r>
              <a:rPr lang="en-US" sz="1494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====================================</a:t>
            </a:r>
          </a:p>
          <a:p>
            <a:pPr algn="ctr">
              <a:lnSpc>
                <a:spcPts val="2016"/>
              </a:lnSpc>
            </a:pPr>
            <a:r>
              <a:rPr lang="en-US" sz="1494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Enter your daily calorie goal: 500</a:t>
            </a:r>
          </a:p>
          <a:p>
            <a:pPr algn="ctr">
              <a:lnSpc>
                <a:spcPts val="2016"/>
              </a:lnSpc>
            </a:pPr>
          </a:p>
          <a:p>
            <a:pPr algn="ctr">
              <a:lnSpc>
                <a:spcPts val="2016"/>
              </a:lnSpc>
            </a:pPr>
            <a:r>
              <a:rPr lang="en-US" sz="1494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Workout 1</a:t>
            </a:r>
          </a:p>
          <a:p>
            <a:pPr algn="ctr">
              <a:lnSpc>
                <a:spcPts val="2016"/>
              </a:lnSpc>
            </a:pPr>
            <a:r>
              <a:rPr lang="en-US" sz="1494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Enter Workout Name: Running</a:t>
            </a:r>
          </a:p>
          <a:p>
            <a:pPr algn="ctr">
              <a:lnSpc>
                <a:spcPts val="2016"/>
              </a:lnSpc>
            </a:pPr>
            <a:r>
              <a:rPr lang="en-US" sz="1494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Enter Calories Burned: 300</a:t>
            </a:r>
          </a:p>
          <a:p>
            <a:pPr algn="ctr">
              <a:lnSpc>
                <a:spcPts val="2016"/>
              </a:lnSpc>
            </a:pPr>
            <a:r>
              <a:rPr lang="en-US" sz="1494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Do you want to add another workout? (Y/N): Y</a:t>
            </a:r>
          </a:p>
          <a:p>
            <a:pPr algn="ctr">
              <a:lnSpc>
                <a:spcPts val="2016"/>
              </a:lnSpc>
            </a:pPr>
          </a:p>
          <a:p>
            <a:pPr algn="ctr">
              <a:lnSpc>
                <a:spcPts val="2016"/>
              </a:lnSpc>
            </a:pPr>
            <a:r>
              <a:rPr lang="en-US" sz="1494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Workout 2</a:t>
            </a:r>
          </a:p>
          <a:p>
            <a:pPr algn="ctr">
              <a:lnSpc>
                <a:spcPts val="2016"/>
              </a:lnSpc>
            </a:pPr>
            <a:r>
              <a:rPr lang="en-US" sz="1494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Enter Workout Name: Cycling</a:t>
            </a:r>
          </a:p>
          <a:p>
            <a:pPr algn="ctr">
              <a:lnSpc>
                <a:spcPts val="2016"/>
              </a:lnSpc>
            </a:pPr>
            <a:r>
              <a:rPr lang="en-US" sz="1494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Enter Calories Burned: 250</a:t>
            </a:r>
          </a:p>
          <a:p>
            <a:pPr algn="ctr">
              <a:lnSpc>
                <a:spcPts val="2016"/>
              </a:lnSpc>
              <a:spcBef>
                <a:spcPct val="0"/>
              </a:spcBef>
            </a:pPr>
            <a:r>
              <a:rPr lang="en-US" sz="1494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Do you want to add another workout? (Y/N): 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706052" y="4550331"/>
            <a:ext cx="5392887" cy="116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172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========== DAILY REPORT ==========</a:t>
            </a:r>
          </a:p>
          <a:p>
            <a:pPr algn="ctr">
              <a:lnSpc>
                <a:spcPts val="2328"/>
              </a:lnSpc>
            </a:pPr>
            <a:r>
              <a:rPr lang="en-US" sz="172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Total Workouts : 2</a:t>
            </a:r>
          </a:p>
          <a:p>
            <a:pPr algn="ctr">
              <a:lnSpc>
                <a:spcPts val="2328"/>
              </a:lnSpc>
            </a:pPr>
            <a:r>
              <a:rPr lang="en-US" sz="172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Total Calories Burned : 550</a:t>
            </a:r>
          </a:p>
          <a:p>
            <a:pPr algn="ctr">
              <a:lnSpc>
                <a:spcPts val="2328"/>
              </a:lnSpc>
              <a:spcBef>
                <a:spcPct val="0"/>
              </a:spcBef>
            </a:pPr>
            <a:r>
              <a:rPr lang="en-US" sz="172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Congratulations! Daily Goal Achieved.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818490" y="3222094"/>
            <a:ext cx="6046806" cy="457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2"/>
              </a:lnSpc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========== BMI CALCULATOR ==========</a:t>
            </a:r>
          </a:p>
          <a:p>
            <a:pPr algn="ctr">
              <a:lnSpc>
                <a:spcPts val="2002"/>
              </a:lnSpc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Enter Weight (kg): 70</a:t>
            </a:r>
          </a:p>
          <a:p>
            <a:pPr algn="ctr">
              <a:lnSpc>
                <a:spcPts val="2002"/>
              </a:lnSpc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Enter Height (meters): 1.75</a:t>
            </a:r>
          </a:p>
          <a:p>
            <a:pPr algn="ctr">
              <a:lnSpc>
                <a:spcPts val="2002"/>
              </a:lnSpc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Your BMI = 22.86</a:t>
            </a:r>
          </a:p>
          <a:p>
            <a:pPr algn="ctr">
              <a:lnSpc>
                <a:spcPts val="2002"/>
              </a:lnSpc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Category : Normal Weight</a:t>
            </a:r>
          </a:p>
          <a:p>
            <a:pPr algn="ctr">
              <a:lnSpc>
                <a:spcPts val="2002"/>
              </a:lnSpc>
            </a:pPr>
          </a:p>
          <a:p>
            <a:pPr algn="ctr">
              <a:lnSpc>
                <a:spcPts val="2002"/>
              </a:lnSpc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========== WEEKLY REPORT ==========</a:t>
            </a:r>
          </a:p>
          <a:p>
            <a:pPr algn="ctr">
              <a:lnSpc>
                <a:spcPts val="2002"/>
              </a:lnSpc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Day 1 : Workout Completed</a:t>
            </a:r>
          </a:p>
          <a:p>
            <a:pPr algn="ctr">
              <a:lnSpc>
                <a:spcPts val="2002"/>
              </a:lnSpc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Day 2 : Workout Completed</a:t>
            </a:r>
          </a:p>
          <a:p>
            <a:pPr algn="ctr">
              <a:lnSpc>
                <a:spcPts val="2002"/>
              </a:lnSpc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Day 3 : Workout Completed</a:t>
            </a:r>
          </a:p>
          <a:p>
            <a:pPr algn="ctr">
              <a:lnSpc>
                <a:spcPts val="2002"/>
              </a:lnSpc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Day 4 : Workout Completed</a:t>
            </a:r>
          </a:p>
          <a:p>
            <a:pPr algn="ctr">
              <a:lnSpc>
                <a:spcPts val="2002"/>
              </a:lnSpc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Day 5 : Workout Completed</a:t>
            </a:r>
          </a:p>
          <a:p>
            <a:pPr algn="ctr">
              <a:lnSpc>
                <a:spcPts val="2002"/>
              </a:lnSpc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Day 6 : Workout Completed</a:t>
            </a:r>
          </a:p>
          <a:p>
            <a:pPr algn="ctr">
              <a:lnSpc>
                <a:spcPts val="2002"/>
              </a:lnSpc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Day 7 : Workout Completed</a:t>
            </a:r>
          </a:p>
          <a:p>
            <a:pPr algn="ctr">
              <a:lnSpc>
                <a:spcPts val="2002"/>
              </a:lnSpc>
            </a:pPr>
          </a:p>
          <a:p>
            <a:pPr algn="ctr">
              <a:lnSpc>
                <a:spcPts val="2002"/>
              </a:lnSpc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====================================</a:t>
            </a:r>
          </a:p>
          <a:p>
            <a:pPr algn="ctr">
              <a:lnSpc>
                <a:spcPts val="2002"/>
              </a:lnSpc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 Thank You for Using Fitness Tracker </a:t>
            </a:r>
          </a:p>
          <a:p>
            <a:pPr algn="ctr">
              <a:lnSpc>
                <a:spcPts val="2002"/>
              </a:lnSpc>
              <a:spcBef>
                <a:spcPct val="0"/>
              </a:spcBef>
            </a:pPr>
            <a:r>
              <a:rPr lang="en-US" sz="1483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====================================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8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6800" y="9429750"/>
            <a:ext cx="16154400" cy="0"/>
          </a:xfrm>
          <a:prstGeom prst="line">
            <a:avLst/>
          </a:prstGeom>
          <a:ln cap="flat" w="9525">
            <a:solidFill>
              <a:srgbClr val="4443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9629775"/>
            <a:ext cx="4953000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PERSONAL FITNESS / JAVA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971550"/>
            <a:ext cx="133350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98B0F8"/>
                </a:solidFill>
                <a:latin typeface="Poppins Bold"/>
                <a:ea typeface="Poppins Bold"/>
                <a:cs typeface="Poppins Bold"/>
                <a:sym typeface="Poppins Bold"/>
              </a:rPr>
              <a:t>Where the project can go next.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90625" y="2857500"/>
            <a:ext cx="7667625" cy="2333625"/>
            <a:chOff x="0" y="0"/>
            <a:chExt cx="10223500" cy="31115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223500" cy="3111500"/>
              <a:chOff x="0" y="0"/>
              <a:chExt cx="10223500" cy="3111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2235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10223500">
                    <a:moveTo>
                      <a:pt x="0" y="0"/>
                    </a:moveTo>
                    <a:lnTo>
                      <a:pt x="10223500" y="0"/>
                    </a:lnTo>
                    <a:lnTo>
                      <a:pt x="102235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2235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09600" y="695325"/>
              <a:ext cx="7874000" cy="528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7EE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Save Data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609600" y="1612900"/>
              <a:ext cx="8255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AA7B2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File or database persistence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34500" y="2857500"/>
            <a:ext cx="7667625" cy="2333625"/>
            <a:chOff x="0" y="0"/>
            <a:chExt cx="10223500" cy="31115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223500" cy="3111500"/>
              <a:chOff x="0" y="0"/>
              <a:chExt cx="10223500" cy="31115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2235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10223500">
                    <a:moveTo>
                      <a:pt x="0" y="0"/>
                    </a:moveTo>
                    <a:lnTo>
                      <a:pt x="10223500" y="0"/>
                    </a:lnTo>
                    <a:lnTo>
                      <a:pt x="102235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2235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09600" y="695325"/>
              <a:ext cx="7874000" cy="528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FF2E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Desktop GUI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09600" y="1612900"/>
              <a:ext cx="8255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AA7B2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Build with Java Swing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90625" y="5715000"/>
            <a:ext cx="7667625" cy="2333625"/>
            <a:chOff x="0" y="0"/>
            <a:chExt cx="10223500" cy="31115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0223500" cy="3111500"/>
              <a:chOff x="0" y="0"/>
              <a:chExt cx="10223500" cy="31115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2235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10223500">
                    <a:moveTo>
                      <a:pt x="0" y="0"/>
                    </a:moveTo>
                    <a:lnTo>
                      <a:pt x="10223500" y="0"/>
                    </a:lnTo>
                    <a:lnTo>
                      <a:pt x="102235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02235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09600" y="695325"/>
              <a:ext cx="7874000" cy="528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7EE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User Profiles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09600" y="1612900"/>
              <a:ext cx="8255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AA7B2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Login and personal history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34500" y="5715000"/>
            <a:ext cx="7667625" cy="2333625"/>
            <a:chOff x="0" y="0"/>
            <a:chExt cx="10223500" cy="31115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223500" cy="3111500"/>
              <a:chOff x="0" y="0"/>
              <a:chExt cx="10223500" cy="31115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2235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10223500">
                    <a:moveTo>
                      <a:pt x="0" y="0"/>
                    </a:moveTo>
                    <a:lnTo>
                      <a:pt x="10223500" y="0"/>
                    </a:lnTo>
                    <a:lnTo>
                      <a:pt x="102235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02235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609600" y="695325"/>
              <a:ext cx="7874000" cy="528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FF2E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Real Analytics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09600" y="1612900"/>
              <a:ext cx="8255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AA7B2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Weekly tracking with charts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6800" y="9429750"/>
            <a:ext cx="16154400" cy="0"/>
          </a:xfrm>
          <a:prstGeom prst="line">
            <a:avLst/>
          </a:prstGeom>
          <a:ln cap="flat" w="9525">
            <a:solidFill>
              <a:srgbClr val="4443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9629775"/>
            <a:ext cx="4953000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PERSONAL FITNESS / JAVA PROJECT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66800" y="2190750"/>
            <a:ext cx="5905500" cy="5905500"/>
          </a:xfrm>
          <a:custGeom>
            <a:avLst/>
            <a:gdLst/>
            <a:ahLst/>
            <a:cxnLst/>
            <a:rect r="r" b="b" t="t" l="l"/>
            <a:pathLst>
              <a:path h="5905500" w="5905500">
                <a:moveTo>
                  <a:pt x="0" y="0"/>
                </a:moveTo>
                <a:lnTo>
                  <a:pt x="5905500" y="0"/>
                </a:lnTo>
                <a:lnTo>
                  <a:pt x="5905500" y="5905500"/>
                </a:lnTo>
                <a:lnTo>
                  <a:pt x="0" y="590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8001000" y="1209675"/>
            <a:ext cx="8572500" cy="62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4275" b="true">
                <a:solidFill>
                  <a:srgbClr val="98B0F8"/>
                </a:solidFill>
                <a:latin typeface="Poppins Bold"/>
                <a:ea typeface="Poppins Bold"/>
                <a:cs typeface="Poppins Bold"/>
                <a:sym typeface="Poppins Bold"/>
              </a:rPr>
              <a:t>Simple logic. Practical impact.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001000" y="2714625"/>
            <a:ext cx="8096250" cy="2857500"/>
            <a:chOff x="0" y="0"/>
            <a:chExt cx="10795000" cy="3810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795000" cy="3810000"/>
              <a:chOff x="0" y="0"/>
              <a:chExt cx="10795000" cy="381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795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1079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27262B"/>
              </a:solidFill>
              <a:ln w="19050" cap="sq">
                <a:solidFill>
                  <a:srgbClr val="44434A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795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762000" y="444500"/>
              <a:ext cx="2667000" cy="794893"/>
              <a:chOff x="0" y="0"/>
              <a:chExt cx="2667000" cy="79489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667000" cy="794893"/>
              </a:xfrm>
              <a:custGeom>
                <a:avLst/>
                <a:gdLst/>
                <a:ahLst/>
                <a:cxnLst/>
                <a:rect r="r" b="b" t="t" l="l"/>
                <a:pathLst>
                  <a:path h="794893" w="2667000">
                    <a:moveTo>
                      <a:pt x="302381" y="0"/>
                    </a:moveTo>
                    <a:lnTo>
                      <a:pt x="2364619" y="0"/>
                    </a:lnTo>
                    <a:cubicBezTo>
                      <a:pt x="2531620" y="0"/>
                      <a:pt x="2667000" y="135381"/>
                      <a:pt x="2667000" y="302381"/>
                    </a:cubicBezTo>
                    <a:lnTo>
                      <a:pt x="2667000" y="492512"/>
                    </a:lnTo>
                    <a:cubicBezTo>
                      <a:pt x="2667000" y="659512"/>
                      <a:pt x="2531620" y="794893"/>
                      <a:pt x="2364619" y="794893"/>
                    </a:cubicBezTo>
                    <a:lnTo>
                      <a:pt x="302381" y="794893"/>
                    </a:lnTo>
                    <a:cubicBezTo>
                      <a:pt x="222185" y="794893"/>
                      <a:pt x="145273" y="763035"/>
                      <a:pt x="88565" y="706328"/>
                    </a:cubicBezTo>
                    <a:cubicBezTo>
                      <a:pt x="31858" y="649620"/>
                      <a:pt x="0" y="572708"/>
                      <a:pt x="0" y="492512"/>
                    </a:cubicBezTo>
                    <a:lnTo>
                      <a:pt x="0" y="302381"/>
                    </a:lnTo>
                    <a:cubicBezTo>
                      <a:pt x="0" y="135381"/>
                      <a:pt x="135381" y="0"/>
                      <a:pt x="302381" y="0"/>
                    </a:cubicBezTo>
                    <a:close/>
                  </a:path>
                </a:pathLst>
              </a:custGeom>
              <a:solidFill>
                <a:srgbClr val="B080F8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667000" cy="8234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  <a:r>
                  <a:rPr lang="en-US" b="true" sz="1350" spc="162">
                    <a:solidFill>
                      <a:srgbClr val="08070C"/>
                    </a:solidFill>
                    <a:latin typeface="Nunito Sans Expanded Bold"/>
                    <a:ea typeface="Nunito Sans Expanded Bold"/>
                    <a:cs typeface="Nunito Sans Expanded Bold"/>
                    <a:sym typeface="Nunito Sans Expanded Bold"/>
                  </a:rPr>
                  <a:t>KEY TAKEAWAY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825500" y="1344676"/>
              <a:ext cx="9144000" cy="10825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F3F1F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Scanner, loops, if-else and printf work together as one useful fitness tool.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91500" y="6162675"/>
            <a:ext cx="7620000" cy="101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Simple fitness tracking solution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Console-based and easy to use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Covers workouts, goals and BMI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8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6800" y="9429750"/>
            <a:ext cx="16154400" cy="0"/>
          </a:xfrm>
          <a:prstGeom prst="line">
            <a:avLst/>
          </a:prstGeom>
          <a:ln cap="flat" w="9525">
            <a:solidFill>
              <a:srgbClr val="4443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66800" y="9629775"/>
            <a:ext cx="4953000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AA7B2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PERSONAL FITNESS / JAVA PROJECT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05850" y="1028700"/>
            <a:ext cx="876300" cy="876300"/>
            <a:chOff x="0" y="0"/>
            <a:chExt cx="1168400" cy="116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1788" y="0"/>
              <a:ext cx="1004824" cy="1168400"/>
            </a:xfrm>
            <a:custGeom>
              <a:avLst/>
              <a:gdLst/>
              <a:ahLst/>
              <a:cxnLst/>
              <a:rect r="r" b="b" t="t" l="l"/>
              <a:pathLst>
                <a:path h="1168400" w="1004824">
                  <a:moveTo>
                    <a:pt x="502412" y="0"/>
                  </a:moveTo>
                  <a:lnTo>
                    <a:pt x="1004824" y="292100"/>
                  </a:lnTo>
                  <a:lnTo>
                    <a:pt x="1004824" y="876300"/>
                  </a:lnTo>
                  <a:lnTo>
                    <a:pt x="502412" y="1168400"/>
                  </a:lnTo>
                  <a:lnTo>
                    <a:pt x="0" y="8763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B080F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684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905250" y="2638425"/>
            <a:ext cx="1047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79">
                <a:solidFill>
                  <a:srgbClr val="7EEFFF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PERSONAL FITNESS &amp; WORKOUT TRACKER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76500" y="3762375"/>
            <a:ext cx="13335000" cy="164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55"/>
              </a:lnSpc>
            </a:pPr>
            <a:r>
              <a:rPr lang="en-US" sz="11100" b="true">
                <a:solidFill>
                  <a:srgbClr val="98B0F8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DAHWrBUwRyc</dc:identifier>
  <dcterms:modified xsi:type="dcterms:W3CDTF">2011-08-01T06:04:30Z</dcterms:modified>
  <cp:revision>1</cp:revision>
  <dc:title>Personal Fitness Tracker</dc:title>
</cp:coreProperties>
</file>